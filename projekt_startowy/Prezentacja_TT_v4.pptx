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18520" y="102412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74552" y="1828800"/>
            <a:ext cx="457200" cy="457200"/>
          </a:xfrm>
          <a:prstGeom prst="roundRect">
            <a:avLst>
              <a:gd name="adj" fmla="val 18000"/>
            </a:avLst>
          </a:prstGeom>
          <a:noFill/>
          <a:ln w="2540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50">
                <a:solidFill>
                  <a:srgbClr val="D6A858"/>
                </a:solidFill>
                <a:latin typeface="Calibri"/>
              </a:rPr>
              <a:t>ZADANIE REKRUTACYJNE  ·  AMPERE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335024"/>
            <a:ext cx="10698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300" b="1" i="0">
                <a:solidFill>
                  <a:srgbClr val="FFFFFF"/>
                </a:solidFill>
                <a:latin typeface="Georgia"/>
              </a:rPr>
              <a:t>Zrobotyzowane stanowisko</a:t>
            </a:r>
          </a:p>
          <a:p>
            <a:pPr algn="l"/>
            <a:r>
              <a:rPr sz="4300" b="1" i="0">
                <a:solidFill>
                  <a:srgbClr val="D6A858"/>
                </a:solidFill>
                <a:latin typeface="Georgia"/>
              </a:rPr>
              <a:t>do znakowania śrub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A9C6CB"/>
                </a:solidFill>
                <a:latin typeface="Calibri"/>
              </a:rPr>
              <a:t>Automatyczne, punktowe nakładanie pasty Torque Seal na cztery śruby pokrywy obudowy elektronicznej </a:t>
            </a:r>
            <a:r>
              <a:rPr sz="1550" b="1" i="0">
                <a:solidFill>
                  <a:srgbClr val="FFFFFF"/>
                </a:solidFill>
                <a:latin typeface="Calibri"/>
              </a:rPr>
              <a:t>Hammond</a:t>
            </a:r>
            <a:r>
              <a:rPr sz="1550" b="0" i="0">
                <a:solidFill>
                  <a:srgbClr val="A9C6CB"/>
                </a:solidFill>
                <a:latin typeface="Calibri"/>
              </a:rPr>
              <a:t> — z kontrolą wizyjną i sortowaniem.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261104"/>
            <a:ext cx="45720" cy="841248"/>
          </a:xfrm>
          <a:prstGeom prst="rect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242816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Dawid Cekała</a:t>
            </a:r>
            <a:r>
              <a:rPr sz="1400" b="0" i="0">
                <a:solidFill>
                  <a:srgbClr val="A9C6CB"/>
                </a:solidFill>
                <a:latin typeface="Calibri"/>
              </a:rPr>
              <a:t>   ·   Grupa WMT23AP1S1</a:t>
            </a:r>
          </a:p>
          <a:p>
            <a:pPr algn="l"/>
            <a:r>
              <a:rPr sz="1250" b="0" i="0">
                <a:solidFill>
                  <a:srgbClr val="7C9AA0"/>
                </a:solidFill>
                <a:latin typeface="Calibri"/>
              </a:rPr>
              <a:t>Koncepcja · konstrukcja · dobór napędów · algorytmy sterowania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724144"/>
            <a:ext cx="2317089" cy="420624"/>
          </a:xfrm>
          <a:prstGeom prst="roundRect">
            <a:avLst>
              <a:gd name="adj" fmla="val 50000"/>
            </a:avLst>
          </a:prstGeom>
          <a:solidFill>
            <a:srgbClr val="15505A"/>
          </a:solidFill>
          <a:ln w="1270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231708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9C6CB"/>
                </a:solidFill>
                <a:latin typeface="Calibri"/>
              </a:rPr>
              <a:t>powtarzalność ±0,05 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7209" y="5724144"/>
            <a:ext cx="2050999" cy="420624"/>
          </a:xfrm>
          <a:prstGeom prst="roundRect">
            <a:avLst>
              <a:gd name="adj" fmla="val 50000"/>
            </a:avLst>
          </a:prstGeom>
          <a:solidFill>
            <a:srgbClr val="15505A"/>
          </a:solidFill>
          <a:ln w="1270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7209" y="5715000"/>
            <a:ext cx="205099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9C6CB"/>
                </a:solidFill>
                <a:latin typeface="Calibri"/>
              </a:rPr>
              <a:t>tor śrub 50 × 50 mm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11088" y="5724144"/>
            <a:ext cx="1873605" cy="420624"/>
          </a:xfrm>
          <a:prstGeom prst="roundRect">
            <a:avLst>
              <a:gd name="adj" fmla="val 50000"/>
            </a:avLst>
          </a:prstGeom>
          <a:solidFill>
            <a:srgbClr val="15505A"/>
          </a:solidFill>
          <a:ln w="1270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11088" y="5715000"/>
            <a:ext cx="187360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9C6CB"/>
                </a:solidFill>
                <a:latin typeface="Calibri"/>
              </a:rPr>
              <a:t>autorski dozownik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67574" y="5724144"/>
            <a:ext cx="2050999" cy="420624"/>
          </a:xfrm>
          <a:prstGeom prst="roundRect">
            <a:avLst>
              <a:gd name="adj" fmla="val 50000"/>
            </a:avLst>
          </a:prstGeom>
          <a:solidFill>
            <a:srgbClr val="15505A"/>
          </a:solidFill>
          <a:ln w="1270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7574" y="5715000"/>
            <a:ext cx="205099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9C6CB"/>
                </a:solidFill>
                <a:latin typeface="Calibri"/>
              </a:rPr>
              <a:t>suck-back −0,86 bar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01453" y="5724144"/>
            <a:ext cx="2405786" cy="420624"/>
          </a:xfrm>
          <a:prstGeom prst="roundRect">
            <a:avLst>
              <a:gd name="adj" fmla="val 50000"/>
            </a:avLst>
          </a:prstGeom>
          <a:solidFill>
            <a:srgbClr val="15505A"/>
          </a:solidFill>
          <a:ln w="1270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1453" y="5715000"/>
            <a:ext cx="240578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9C6CB"/>
                </a:solidFill>
                <a:latin typeface="Calibri"/>
              </a:rPr>
              <a:t>kontrola wizyjna OK/NOK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JAK DZIAŁA STANOWISKO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23338"/>
                </a:solidFill>
                <a:latin typeface="Georgia"/>
              </a:rPr>
              <a:t>Stanowisko w skrócie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36192"/>
            <a:ext cx="11018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33474C"/>
                </a:solidFill>
                <a:latin typeface="Calibri"/>
              </a:rPr>
              <a:t>Robot SCARA podaje obudowę na przesuwnik, który dowozi ją między ścianki centrujące. Portalowy robot TT opuszcza autorski dozownik i nakłada pastę na cztery śruby; po każdym nałożeniu układ suck-back cofa nadmiar pasty, by nie kapała. Kamera ocenia jakość plomb, a detale dobre i odrzucone trafiają w dwie różne strony.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615184"/>
            <a:ext cx="1700784" cy="1133856"/>
          </a:xfrm>
          <a:prstGeom prst="roundRect">
            <a:avLst>
              <a:gd name="adj" fmla="val 9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743200"/>
            <a:ext cx="15544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23338"/>
                </a:solidFill>
                <a:latin typeface="Calibri"/>
              </a:rPr>
              <a:t>Robot SCARA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28415"/>
            <a:ext cx="15910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podaje obudowę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9992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BD8A3C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2" y="2615184"/>
            <a:ext cx="1591056" cy="1133856"/>
          </a:xfrm>
          <a:prstGeom prst="roundRect">
            <a:avLst>
              <a:gd name="adj" fmla="val 9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2743200"/>
            <a:ext cx="144475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23338"/>
                </a:solidFill>
                <a:latin typeface="Calibri"/>
              </a:rPr>
              <a:t>Przesuwnik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328415"/>
            <a:ext cx="1481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transport + centrowanie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992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BD8A3C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2615184"/>
            <a:ext cx="2670048" cy="1133856"/>
          </a:xfrm>
          <a:prstGeom prst="roundRect">
            <a:avLst>
              <a:gd name="adj" fmla="val 9000"/>
            </a:avLst>
          </a:prstGeom>
          <a:solidFill>
            <a:srgbClr val="F7EEDA"/>
          </a:solidFill>
          <a:ln w="20320">
            <a:solidFill>
              <a:srgbClr val="BD8A3C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743200"/>
            <a:ext cx="252374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23338"/>
                </a:solidFill>
                <a:latin typeface="Calibri"/>
              </a:rPr>
              <a:t>Robot TT + dozownik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328415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nakładanie pasty + suck-back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29992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BD8A3C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52944" y="2615184"/>
            <a:ext cx="1682496" cy="1133856"/>
          </a:xfrm>
          <a:prstGeom prst="roundRect">
            <a:avLst>
              <a:gd name="adj" fmla="val 9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2743200"/>
            <a:ext cx="153619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23338"/>
                </a:solidFill>
                <a:latin typeface="Calibri"/>
              </a:rPr>
              <a:t>Kontrola wizyjna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328415"/>
            <a:ext cx="15727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ocena OK / NOK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9992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BD8A3C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64624" y="2615184"/>
            <a:ext cx="2011680" cy="1133856"/>
          </a:xfrm>
          <a:prstGeom prst="roundRect">
            <a:avLst>
              <a:gd name="adj" fmla="val 9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7776" y="2743200"/>
            <a:ext cx="186537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23338"/>
                </a:solidFill>
                <a:latin typeface="Calibri"/>
              </a:rPr>
              <a:t>Sortowanie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3328415"/>
            <a:ext cx="19019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OK → wyjście · NOK → pojemnik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4005072"/>
            <a:ext cx="10972800" cy="402336"/>
          </a:xfrm>
          <a:prstGeom prst="roundRect">
            <a:avLst>
              <a:gd name="adj" fmla="val 12000"/>
            </a:avLst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995927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A9C6CB"/>
                </a:solidFill>
                <a:latin typeface="Calibri"/>
              </a:rPr>
              <a:t>Sterowanie nadrzędne: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PLC Siemens S7-1200 + panel HMI</a:t>
            </a:r>
            <a:r>
              <a:rPr sz="1150" b="0" i="0">
                <a:solidFill>
                  <a:srgbClr val="A9C6CB"/>
                </a:solidFill>
                <a:latin typeface="Calibri"/>
              </a:rPr>
              <a:t>   ·   magistrala Profinet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" y="4736592"/>
            <a:ext cx="11018520" cy="1225296"/>
          </a:xfrm>
          <a:prstGeom prst="rect">
            <a:avLst/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216" y="4736592"/>
            <a:ext cx="64008" cy="1225296"/>
          </a:xfrm>
          <a:prstGeom prst="rect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901183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spc="180">
                <a:solidFill>
                  <a:srgbClr val="BD8A3C"/>
                </a:solidFill>
                <a:latin typeface="Calibri"/>
              </a:rPr>
              <a:t>ZAKRES PROJEKTU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33474C"/>
                </a:solidFill>
                <a:latin typeface="Calibri"/>
              </a:rPr>
              <a:t>Całość inżynierska: koncepcja i schemat stanowiska, </a:t>
            </a:r>
            <a:r>
              <a:rPr sz="1350" b="1" i="0">
                <a:solidFill>
                  <a:srgbClr val="123338"/>
                </a:solidFill>
                <a:latin typeface="Calibri"/>
              </a:rPr>
              <a:t>autorski dozownik ciśnieniowy</a:t>
            </a:r>
            <a:r>
              <a:rPr sz="1350" b="0" i="0">
                <a:solidFill>
                  <a:srgbClr val="33474C"/>
                </a:solidFill>
                <a:latin typeface="Calibri"/>
              </a:rPr>
              <a:t> wraz z obliczeniami wytrzymałościowymi i doborem elementów, dobór osi i napędów oraz algorytmy sterowania PLC dla sześciu trybów pracy.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AUTORSKI DOZOWNIK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338"/>
                </a:solidFill>
                <a:latin typeface="Georgia"/>
              </a:rPr>
              <a:t>Dozować pastę, której nie da się łatwo dozować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55648"/>
            <a:ext cx="5989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7000"/>
              </a:lnSpc>
            </a:pPr>
            <a:r>
              <a:rPr sz="1350" b="0" i="0">
                <a:solidFill>
                  <a:srgbClr val="33474C"/>
                </a:solidFill>
                <a:latin typeface="Calibri"/>
              </a:rPr>
              <a:t>Pasta Torque Seal jest bardzo gęsta, więc typowe wyciskanie mechaniczne odpada. Postawiłem na </a:t>
            </a:r>
            <a:r>
              <a:rPr sz="1350" b="1" i="0">
                <a:solidFill>
                  <a:srgbClr val="123338"/>
                </a:solidFill>
                <a:latin typeface="Calibri"/>
              </a:rPr>
              <a:t>dozowanie ciśnieniowo-czasowe</a:t>
            </a:r>
            <a:r>
              <a:rPr sz="1350" b="0" i="0">
                <a:solidFill>
                  <a:srgbClr val="33474C"/>
                </a:solidFill>
                <a:latin typeface="Calibri"/>
              </a:rPr>
              <a:t>: tubka z pastą siedzi w szczelnej komorze pod stałym nadciśnieniem 0,4 MPa (4 bary), a o ilości pasty decyduje precyzyjny mikrozawór otwierany na zadany czas.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3529584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BD8A3C"/>
                </a:solidFill>
                <a:latin typeface="Calibri"/>
              </a:rPr>
              <a:t>WSPÓLNY KŁOPOT WSZYSTKICH DOZOWNIKÓW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877056"/>
            <a:ext cx="5989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7000"/>
              </a:lnSpc>
            </a:pPr>
            <a:r>
              <a:rPr sz="1350" b="0" i="0">
                <a:solidFill>
                  <a:srgbClr val="33474C"/>
                </a:solidFill>
                <a:latin typeface="Calibri"/>
              </a:rPr>
              <a:t>Po zamknięciu zaworu resztka pasty pod ciśnieniem wisi na igle i tworzy kroplę albo nitkę. Spada ona obok śruby, </a:t>
            </a:r>
            <a:r>
              <a:rPr sz="1350" b="1" i="0">
                <a:solidFill>
                  <a:srgbClr val="B23A2E"/>
                </a:solidFill>
                <a:latin typeface="Calibri"/>
              </a:rPr>
              <a:t>rozmazuje sąsiednią plombę i psuje detal</a:t>
            </a:r>
            <a:r>
              <a:rPr sz="1350" b="0" i="0">
                <a:solidFill>
                  <a:srgbClr val="33474C"/>
                </a:solidFill>
                <a:latin typeface="Calibri"/>
              </a:rPr>
              <a:t> — a przy plombach kontrolnych jakości jest to szczególnie groźne.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755648"/>
            <a:ext cx="4681728" cy="4224528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14616" y="2011680"/>
            <a:ext cx="41330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123338"/>
                </a:solidFill>
                <a:latin typeface="Calibri"/>
              </a:rPr>
              <a:t>DECYZJA PROJEKTOWA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616" y="2432304"/>
            <a:ext cx="4059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7000"/>
              </a:lnSpc>
            </a:pPr>
            <a:r>
              <a:rPr sz="1350" b="0" i="0">
                <a:solidFill>
                  <a:srgbClr val="33474C"/>
                </a:solidFill>
                <a:latin typeface="Calibri"/>
              </a:rPr>
              <a:t>Dozowanie ciśnieniowo-czasowe w szczelnej komorze, a do tego </a:t>
            </a:r>
            <a:r>
              <a:rPr sz="1350" b="1" i="0">
                <a:solidFill>
                  <a:srgbClr val="123338"/>
                </a:solidFill>
                <a:latin typeface="Calibri"/>
              </a:rPr>
              <a:t>dedykowany układ przeciw kapaniu</a:t>
            </a:r>
            <a:r>
              <a:rPr sz="1350" b="0" i="0">
                <a:solidFill>
                  <a:srgbClr val="33474C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14616" y="3621024"/>
            <a:ext cx="4059936" cy="16459"/>
          </a:xfrm>
          <a:prstGeom prst="rect">
            <a:avLst/>
          </a:prstGeom>
          <a:solidFill>
            <a:srgbClr val="C7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3931920"/>
            <a:ext cx="128016" cy="868680"/>
          </a:xfrm>
          <a:prstGeom prst="rect">
            <a:avLst/>
          </a:prstGeom>
          <a:solidFill>
            <a:srgbClr val="15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24344" y="3840480"/>
            <a:ext cx="292608" cy="146304"/>
          </a:xfrm>
          <a:prstGeom prst="rect">
            <a:avLst/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06640" y="4800600"/>
            <a:ext cx="128016" cy="12801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931920"/>
            <a:ext cx="34015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3338"/>
                </a:solidFill>
                <a:latin typeface="Calibri"/>
              </a:rPr>
              <a:t>Pytanie, które otworzyło rozwiązanie: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3474C"/>
                </a:solidFill>
                <a:latin typeface="Calibri"/>
              </a:rPr>
              <a:t>skąd wziąć odsysanie pasty bez ruchomych części i bez osobnego napędu?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14616" y="5230368"/>
            <a:ext cx="4059936" cy="512064"/>
          </a:xfrm>
          <a:prstGeom prst="roundRect">
            <a:avLst>
              <a:gd name="adj" fmla="val 50000"/>
            </a:avLst>
          </a:prstGeom>
          <a:solidFill>
            <a:srgbClr val="F7EEDA"/>
          </a:solidFill>
          <a:ln w="1778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14616" y="5221224"/>
            <a:ext cx="405993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23338"/>
                </a:solidFill>
                <a:latin typeface="Calibri"/>
              </a:rPr>
              <a:t>→  z ekspresu ciśnieniowego do kawy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AUTORSKI DOZOWNIK · ROZWIĄZANIE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3338"/>
                </a:solidFill>
                <a:latin typeface="Georgia"/>
              </a:rPr>
              <a:t>Suck-back — pomysł podpatrzony w ekspresie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00784"/>
            <a:ext cx="110185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33474C"/>
                </a:solidFill>
                <a:latin typeface="Calibri"/>
              </a:rPr>
              <a:t>W ekspresach do kawy klasy premium zawór trójdrogowy po zaparzeniu przełącza głowicę z ciśnienia na zrzut, a resztka kawy sama cofa się z wylotu — bez żadnej mechaniki. Ten sam pomysł przeniosłem do dozownika: zamiast zrzutu użyłem małego </a:t>
            </a:r>
            <a:r>
              <a:rPr sz="1300" b="1" i="0">
                <a:solidFill>
                  <a:srgbClr val="123338"/>
                </a:solidFill>
                <a:latin typeface="Calibri"/>
              </a:rPr>
              <a:t>ejektora Venturiego</a:t>
            </a:r>
            <a:r>
              <a:rPr sz="1300" b="0" i="0">
                <a:solidFill>
                  <a:srgbClr val="33474C"/>
                </a:solidFill>
                <a:latin typeface="Calibri"/>
              </a:rPr>
              <a:t>, który ze sprężonego powietrza wytwarza podciśnienie i zasysa słupek pasty z powrotem w głąb igły.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798064"/>
            <a:ext cx="2103120" cy="2029968"/>
          </a:xfrm>
          <a:prstGeom prst="roundRect">
            <a:avLst>
              <a:gd name="adj" fmla="val 7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35608" y="2980944"/>
            <a:ext cx="438912" cy="438912"/>
          </a:xfrm>
          <a:prstGeom prst="ellipse">
            <a:avLst/>
          </a:prstGeom>
          <a:solidFill>
            <a:srgbClr val="15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8" y="29809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511296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23338"/>
                </a:solidFill>
                <a:latin typeface="Calibri"/>
              </a:rPr>
              <a:t>Gotowość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393192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922776"/>
            <a:ext cx="17739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0" b="1" i="0">
                <a:solidFill>
                  <a:srgbClr val="15505A"/>
                </a:solidFill>
                <a:latin typeface="Calibri"/>
              </a:rPr>
              <a:t>komora pod ciśnieniem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352544"/>
            <a:ext cx="18836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0" i="0">
                <a:solidFill>
                  <a:srgbClr val="64787E"/>
                </a:solidFill>
                <a:latin typeface="Calibri"/>
              </a:rPr>
              <a:t>zawór pasty zamknięty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3639312"/>
            <a:ext cx="256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BD8A3C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0068" y="2798064"/>
            <a:ext cx="2103120" cy="2029968"/>
          </a:xfrm>
          <a:prstGeom prst="roundRect">
            <a:avLst>
              <a:gd name="adj" fmla="val 7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62171" y="2980944"/>
            <a:ext cx="438912" cy="438912"/>
          </a:xfrm>
          <a:prstGeom prst="ellipse">
            <a:avLst/>
          </a:prstGeom>
          <a:solidFill>
            <a:srgbClr val="15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2171" y="29809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1508" y="3511296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23338"/>
                </a:solidFill>
                <a:latin typeface="Calibri"/>
              </a:rPr>
              <a:t>Nakładanie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4660" y="393192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4660" y="3922776"/>
            <a:ext cx="17739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0" b="1" i="0">
                <a:solidFill>
                  <a:srgbClr val="15505A"/>
                </a:solidFill>
                <a:latin typeface="Calibri"/>
              </a:rPr>
              <a:t>zawór pasty otwarty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9796" y="4352544"/>
            <a:ext cx="18836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0" i="0">
                <a:solidFill>
                  <a:srgbClr val="64787E"/>
                </a:solidFill>
                <a:latin typeface="Calibri"/>
              </a:rPr>
              <a:t>pasta płynie przez igłę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6612" y="3639312"/>
            <a:ext cx="256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BD8A3C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56631" y="2798064"/>
            <a:ext cx="2103120" cy="2029968"/>
          </a:xfrm>
          <a:prstGeom prst="roundRect">
            <a:avLst>
              <a:gd name="adj" fmla="val 7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88736" y="2980944"/>
            <a:ext cx="438912" cy="438912"/>
          </a:xfrm>
          <a:prstGeom prst="ellipse">
            <a:avLst/>
          </a:prstGeom>
          <a:solidFill>
            <a:srgbClr val="15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29809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1" y="3511296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23338"/>
                </a:solidFill>
                <a:latin typeface="Calibri"/>
              </a:rPr>
              <a:t>Zamknięcie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21223" y="393192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21223" y="3922776"/>
            <a:ext cx="17739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0" b="1" i="0">
                <a:solidFill>
                  <a:srgbClr val="15505A"/>
                </a:solidFill>
                <a:latin typeface="Calibri"/>
              </a:rPr>
              <a:t>zawór pasty zamknięty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4352544"/>
            <a:ext cx="18836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0" i="0">
                <a:solidFill>
                  <a:srgbClr val="64787E"/>
                </a:solidFill>
                <a:latin typeface="Calibri"/>
              </a:rPr>
              <a:t>tu grozi kapanie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5" y="3639312"/>
            <a:ext cx="256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BD8A3C"/>
                </a:solidFill>
                <a:latin typeface="Calib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3195" y="2798064"/>
            <a:ext cx="2103120" cy="2029968"/>
          </a:xfrm>
          <a:prstGeom prst="roundRect">
            <a:avLst>
              <a:gd name="adj" fmla="val 7000"/>
            </a:avLst>
          </a:prstGeom>
          <a:solidFill>
            <a:srgbClr val="F7EEDA"/>
          </a:solidFill>
          <a:ln w="20320">
            <a:solidFill>
              <a:srgbClr val="BD8A3C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15299" y="2980944"/>
            <a:ext cx="438912" cy="438912"/>
          </a:xfrm>
          <a:prstGeom prst="ellipse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5299" y="29809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4636" y="3511296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23338"/>
                </a:solidFill>
                <a:latin typeface="Calibri"/>
              </a:rPr>
              <a:t>Suck-back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47788" y="393192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7788" y="3922776"/>
            <a:ext cx="17739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0" b="1" i="0">
                <a:solidFill>
                  <a:srgbClr val="BD8A3C"/>
                </a:solidFill>
                <a:latin typeface="Calibri"/>
              </a:rPr>
              <a:t>podciśnienie −0,86 bar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92923" y="4352544"/>
            <a:ext cx="18836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0" i="0">
                <a:solidFill>
                  <a:srgbClr val="64787E"/>
                </a:solidFill>
                <a:latin typeface="Calibri"/>
              </a:rPr>
              <a:t>pasta cofa się o 3–5 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9740" y="3639312"/>
            <a:ext cx="256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BD8A3C"/>
                </a:solidFill>
                <a:latin typeface="Calibri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2798064"/>
            <a:ext cx="2103120" cy="2029968"/>
          </a:xfrm>
          <a:prstGeom prst="roundRect">
            <a:avLst>
              <a:gd name="adj" fmla="val 7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41863" y="2980944"/>
            <a:ext cx="438912" cy="438912"/>
          </a:xfrm>
          <a:prstGeom prst="ellipse">
            <a:avLst/>
          </a:prstGeom>
          <a:solidFill>
            <a:srgbClr val="15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41863" y="29809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199" y="3511296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23338"/>
                </a:solidFill>
                <a:latin typeface="Calibri"/>
              </a:rPr>
              <a:t>Powrót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74351" y="393192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74351" y="3922776"/>
            <a:ext cx="17739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0" b="1" i="0">
                <a:solidFill>
                  <a:srgbClr val="15505A"/>
                </a:solidFill>
                <a:latin typeface="Calibri"/>
              </a:rPr>
              <a:t>ponowne sprężenie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9487" y="4352544"/>
            <a:ext cx="18836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69" b="0" i="0">
                <a:solidFill>
                  <a:srgbClr val="64787E"/>
                </a:solidFill>
                <a:latin typeface="Calibri"/>
              </a:rPr>
              <a:t>komora gotowa (~50 ms)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" y="5102352"/>
            <a:ext cx="7040880" cy="786384"/>
          </a:xfrm>
          <a:prstGeom prst="rect">
            <a:avLst/>
          </a:prstGeom>
          <a:solidFill>
            <a:srgbClr val="E6F0EA"/>
          </a:solidFill>
          <a:ln w="12700">
            <a:solidFill>
              <a:srgbClr val="CFE3D6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5216" y="5102352"/>
            <a:ext cx="64008" cy="786384"/>
          </a:xfrm>
          <a:prstGeom prst="rect">
            <a:avLst/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5193792"/>
            <a:ext cx="6766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C7A50"/>
                </a:solidFill>
                <a:latin typeface="Calibri"/>
              </a:rPr>
              <a:t>Efekt:  </a:t>
            </a:r>
            <a:r>
              <a:rPr sz="1200" b="0" i="0">
                <a:solidFill>
                  <a:srgbClr val="33474C"/>
                </a:solidFill>
                <a:latin typeface="Calibri"/>
              </a:rPr>
              <a:t>igła zostaje czysta po każdym nałożeniu, więc plomby są równe i nic nie kapie na sąsiednie śruby. Czas cofania dostrajam z panelu, bez zmian w sprzęcie.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5102352"/>
            <a:ext cx="1170432" cy="786384"/>
          </a:xfrm>
          <a:prstGeom prst="roundRect">
            <a:avLst>
              <a:gd name="adj" fmla="val 8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5184648"/>
            <a:ext cx="1170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BD8A3C"/>
                </a:solidFill>
                <a:latin typeface="Calibri"/>
              </a:rPr>
              <a:t>0,4 MPa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5559552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87E"/>
                </a:solidFill>
                <a:latin typeface="Calibri"/>
              </a:rPr>
              <a:t>nadciśnienie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25712" y="5102352"/>
            <a:ext cx="1170432" cy="786384"/>
          </a:xfrm>
          <a:prstGeom prst="roundRect">
            <a:avLst>
              <a:gd name="adj" fmla="val 8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25712" y="5184648"/>
            <a:ext cx="1170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BD8A3C"/>
                </a:solidFill>
                <a:latin typeface="Calibri"/>
              </a:rPr>
              <a:t>−0,86 bar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5712" y="5559552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87E"/>
                </a:solidFill>
                <a:latin typeface="Calibri"/>
              </a:rPr>
              <a:t>podciśnienie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387584" y="5102352"/>
            <a:ext cx="1170432" cy="786384"/>
          </a:xfrm>
          <a:prstGeom prst="roundRect">
            <a:avLst>
              <a:gd name="adj" fmla="val 8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87584" y="5184648"/>
            <a:ext cx="1170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BD8A3C"/>
                </a:solidFill>
                <a:latin typeface="Calibri"/>
              </a:rPr>
              <a:t>3–5 mm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87584" y="5559552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87E"/>
                </a:solidFill>
                <a:latin typeface="Calibri"/>
              </a:rPr>
              <a:t>cofnięcie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DOBÓR NAPĘDÓW · OŚ POZIOMA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3338"/>
                </a:solidFill>
                <a:latin typeface="Georgia"/>
              </a:rPr>
              <a:t>Napęd osi X — dobór z bezpiecznym zapasem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00784"/>
            <a:ext cx="5715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280" b="0" i="0">
                <a:solidFill>
                  <a:srgbClr val="33474C"/>
                </a:solidFill>
                <a:latin typeface="Calibri"/>
              </a:rPr>
              <a:t>Pozioma oś X niesie wszystko, co rusza się nad detalem — oś Y, oś Z i cały dozownik, łącznie blisko </a:t>
            </a:r>
            <a:r>
              <a:rPr sz="1280" b="1" i="0">
                <a:solidFill>
                  <a:srgbClr val="123338"/>
                </a:solidFill>
                <a:latin typeface="Calibri"/>
              </a:rPr>
              <a:t>9,7 kg</a:t>
            </a:r>
            <a:r>
              <a:rPr sz="1280" b="0" i="0">
                <a:solidFill>
                  <a:srgbClr val="33474C"/>
                </a:solidFill>
                <a:latin typeface="Calibri"/>
              </a:rPr>
              <a:t>. Silnik musi tę masę nie tylko utrzymać, ale i rozpędzać przy każdym ruchu.</a:t>
            </a:r>
          </a:p>
          <a:p>
            <a:pPr algn="l">
              <a:lnSpc>
                <a:spcPct val="116000"/>
              </a:lnSpc>
            </a:pPr>
            <a:r>
              <a:rPr sz="1280" b="0" i="0">
                <a:solidFill>
                  <a:srgbClr val="33474C"/>
                </a:solidFill>
                <a:latin typeface="Calibri"/>
              </a:rPr>
              <a:t>Przy mocnym przyspieszeniu potrzebny moment sięgał 214 Ncm, a silnik daje 250 Ncm — zostawało tylko </a:t>
            </a:r>
            <a:r>
              <a:rPr sz="1280" b="1" i="0">
                <a:solidFill>
                  <a:srgbClr val="B23A2E"/>
                </a:solidFill>
                <a:latin typeface="Calibri"/>
              </a:rPr>
              <a:t>17 % zapasu</a:t>
            </a:r>
            <a:r>
              <a:rPr sz="1280" b="0" i="0">
                <a:solidFill>
                  <a:srgbClr val="33474C"/>
                </a:solidFill>
                <a:latin typeface="Calibri"/>
              </a:rPr>
              <a:t>. Tak mały margines jest ryzykowny: przeciążony silnik krokowy potrafi „zgubić krok” i po cichu stracić pozycję.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3822191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BD8A3C"/>
                </a:solidFill>
                <a:latin typeface="Calibri"/>
              </a:rPr>
              <a:t>DWIE DROGI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4114800"/>
            <a:ext cx="5715000" cy="676656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169663"/>
            <a:ext cx="5440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23338"/>
                </a:solidFill>
                <a:latin typeface="Calibri"/>
              </a:rPr>
              <a:t>a) </a:t>
            </a:r>
            <a:r>
              <a:rPr sz="1200" b="0" i="0">
                <a:solidFill>
                  <a:srgbClr val="33474C"/>
                </a:solidFill>
                <a:latin typeface="Calibri"/>
              </a:rPr>
              <a:t>większy, cięższy silnik (sam dokłada masy do rozpędzania)   </a:t>
            </a:r>
            <a:r>
              <a:rPr sz="1200" b="1" i="0">
                <a:solidFill>
                  <a:srgbClr val="123338"/>
                </a:solidFill>
                <a:latin typeface="Calibri"/>
              </a:rPr>
              <a:t>b) </a:t>
            </a:r>
            <a:r>
              <a:rPr sz="1200" b="0" i="0">
                <a:solidFill>
                  <a:srgbClr val="33474C"/>
                </a:solidFill>
                <a:latin typeface="Calibri"/>
              </a:rPr>
              <a:t>spokojniejsze przyspieszenie.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4956048"/>
            <a:ext cx="5715000" cy="1078992"/>
          </a:xfrm>
          <a:prstGeom prst="rect">
            <a:avLst/>
          </a:prstGeom>
          <a:solidFill>
            <a:srgbClr val="E6F0EA"/>
          </a:solidFill>
          <a:ln w="12700">
            <a:solidFill>
              <a:srgbClr val="CFE3D6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" y="4956048"/>
            <a:ext cx="64008" cy="1078992"/>
          </a:xfrm>
          <a:prstGeom prst="rect">
            <a:avLst/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065776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250" b="1" i="0">
                <a:solidFill>
                  <a:srgbClr val="2C7A50"/>
                </a:solidFill>
                <a:latin typeface="Calibri"/>
              </a:rPr>
              <a:t>Wybrałem (b).  </a:t>
            </a:r>
            <a:r>
              <a:rPr sz="1180" b="0" i="0">
                <a:solidFill>
                  <a:srgbClr val="33474C"/>
                </a:solidFill>
                <a:latin typeface="Calibri"/>
              </a:rPr>
              <a:t>Łagodniejsze przyspieszenie obniża potrzebny moment do 171 Ncm, a zapas rośnie do </a:t>
            </a:r>
            <a:r>
              <a:rPr sz="1180" b="1" i="0">
                <a:solidFill>
                  <a:srgbClr val="2C7A50"/>
                </a:solidFill>
                <a:latin typeface="Calibri"/>
              </a:rPr>
              <a:t>46 %</a:t>
            </a:r>
            <a:r>
              <a:rPr sz="1180" b="0" i="0">
                <a:solidFill>
                  <a:srgbClr val="33474C"/>
                </a:solidFill>
                <a:latin typeface="Calibri"/>
              </a:rPr>
              <a:t>. Ruch i tak zostaje szybki — drogi przejazdu są krótkie (bok 50 mm), więc o tempie decyduje precyzyjne nakładanie pasty, nie maksymalne przyspieszenie.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700784"/>
            <a:ext cx="4846320" cy="4261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59" y="190195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3338"/>
                </a:solidFill>
                <a:latin typeface="Calibri"/>
              </a:rPr>
              <a:t>Ile momentu trzeba, a ile daje silnik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3056055"/>
            <a:ext cx="4023359" cy="20116"/>
          </a:xfrm>
          <a:prstGeom prst="rect">
            <a:avLst/>
          </a:prstGeom>
          <a:solidFill>
            <a:srgbClr val="15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3587362"/>
            <a:ext cx="4023359" cy="14630"/>
          </a:xfrm>
          <a:prstGeom prst="rect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31736" y="2377440"/>
            <a:ext cx="256032" cy="45720"/>
          </a:xfrm>
          <a:prstGeom prst="rect">
            <a:avLst/>
          </a:prstGeom>
          <a:solidFill>
            <a:srgbClr val="15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229514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5505A"/>
                </a:solidFill>
                <a:latin typeface="Calibri"/>
              </a:rPr>
              <a:t>maksimum silnika: 250 Ncm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31736" y="2606040"/>
            <a:ext cx="256032" cy="45720"/>
          </a:xfrm>
          <a:prstGeom prst="rect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252374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D8A3C"/>
                </a:solidFill>
                <a:latin typeface="Calibri"/>
              </a:rPr>
              <a:t>bezpieczny próg (zapas 30 %)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3387590"/>
            <a:ext cx="1325880" cy="1970793"/>
          </a:xfrm>
          <a:prstGeom prst="roundRect">
            <a:avLst>
              <a:gd name="adj" fmla="val 4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309498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23338"/>
                </a:solidFill>
                <a:latin typeface="Calibri"/>
              </a:rPr>
              <a:t>214 Ncm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404104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23338"/>
                </a:solidFill>
                <a:latin typeface="Calibri"/>
              </a:rPr>
              <a:t>przy a = 5 m/s²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44968" y="5669280"/>
            <a:ext cx="1655064" cy="310896"/>
          </a:xfrm>
          <a:prstGeom prst="roundRect">
            <a:avLst>
              <a:gd name="adj" fmla="val 50000"/>
            </a:avLst>
          </a:prstGeom>
          <a:solidFill>
            <a:srgbClr val="F6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4968" y="5660136"/>
            <a:ext cx="16550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B23A2E"/>
                </a:solidFill>
                <a:latin typeface="Calibri"/>
              </a:rPr>
              <a:t>zostaje 17 %  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3783591"/>
            <a:ext cx="1325880" cy="1574792"/>
          </a:xfrm>
          <a:prstGeom prst="roundRect">
            <a:avLst>
              <a:gd name="adj" fmla="val 4000"/>
            </a:avLst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3490983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23338"/>
                </a:solidFill>
                <a:latin typeface="Calibri"/>
              </a:rPr>
              <a:t>171 Ncm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404104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23338"/>
                </a:solidFill>
                <a:latin typeface="Calibri"/>
              </a:rPr>
              <a:t>przy a = 4 m/s²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6648" y="5669280"/>
            <a:ext cx="1655064" cy="310896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5660136"/>
            <a:ext cx="16550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7A50"/>
                </a:solidFill>
                <a:latin typeface="Calibri"/>
              </a:rPr>
              <a:t>zostaje 46 % 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5358384"/>
            <a:ext cx="4023359" cy="18288"/>
          </a:xfrm>
          <a:prstGeom prst="rect">
            <a:avLst/>
          </a:prstGeom>
          <a:solidFill>
            <a:srgbClr val="C7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OŚ PIONOWA Z · MASA I KOMORA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338"/>
                </a:solidFill>
                <a:latin typeface="Georgia"/>
              </a:rPr>
              <a:t>Lekkość jako warunek — budżet masy dozownika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37360"/>
            <a:ext cx="5532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80" b="0" i="0">
                <a:solidFill>
                  <a:srgbClr val="33474C"/>
                </a:solidFill>
                <a:latin typeface="Calibri"/>
              </a:rPr>
              <a:t>Na pionowej osi Z każdy gram działa przeciw dynamice ruchu, a silnik krokowy bez sprzężenia — gdy go przeciążyć — może zgubić krok. Dlatego masa dozownika była ograniczeniem nadrzędnym i ukształtowała całą jego konstrukcję.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999232"/>
            <a:ext cx="1184148" cy="512064"/>
          </a:xfrm>
          <a:prstGeom prst="rect">
            <a:avLst/>
          </a:prstGeom>
          <a:solidFill>
            <a:srgbClr val="1550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97380" y="2999232"/>
            <a:ext cx="930401" cy="512064"/>
          </a:xfrm>
          <a:prstGeom prst="rect">
            <a:avLst/>
          </a:prstGeom>
          <a:solidFill>
            <a:srgbClr val="BD8A3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27782" y="2999232"/>
            <a:ext cx="845819" cy="512064"/>
          </a:xfrm>
          <a:prstGeom prst="rect">
            <a:avLst/>
          </a:prstGeom>
          <a:solidFill>
            <a:srgbClr val="D6A85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73602" y="2999232"/>
            <a:ext cx="2114550" cy="512064"/>
          </a:xfrm>
          <a:prstGeom prst="rect">
            <a:avLst/>
          </a:prstGeom>
          <a:solidFill>
            <a:srgbClr val="E3EC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88152" y="2926079"/>
            <a:ext cx="27432" cy="658368"/>
          </a:xfrm>
          <a:prstGeom prst="rect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2" y="2670048"/>
            <a:ext cx="18745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3338"/>
                </a:solidFill>
                <a:latin typeface="Calibri"/>
              </a:rPr>
              <a:t>limit nośności osi 1,20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66160"/>
            <a:ext cx="29603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23338"/>
                </a:solidFill>
                <a:latin typeface="Calibri"/>
              </a:rPr>
              <a:t>Σ 700 g (dozownik na osi 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3602" y="3566160"/>
            <a:ext cx="21145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C7A50"/>
                </a:solidFill>
                <a:latin typeface="Calibri"/>
              </a:rPr>
              <a:t>zapas 500 g · 42 %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895344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15505A"/>
          </a:solidFill>
          <a:ln w="9525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3858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474C"/>
                </a:solidFill>
                <a:latin typeface="Calibri"/>
              </a:rPr>
              <a:t>komora pusta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8587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123338"/>
                </a:solidFill>
                <a:latin typeface="Calibri"/>
              </a:rPr>
              <a:t>280 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288536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BD8A3C"/>
          </a:solidFill>
          <a:ln w="9525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" y="425195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474C"/>
                </a:solidFill>
                <a:latin typeface="Calibri"/>
              </a:rPr>
              <a:t>osprzęt (zawory, igła, złączki)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25195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123338"/>
                </a:solidFill>
                <a:latin typeface="Calibri"/>
              </a:rPr>
              <a:t>220 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681727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D6A858"/>
          </a:solidFill>
          <a:ln w="9525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4645151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474C"/>
                </a:solidFill>
                <a:latin typeface="Calibri"/>
              </a:rPr>
              <a:t>medium (pasta)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645151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123338"/>
                </a:solidFill>
                <a:latin typeface="Calibri"/>
              </a:rPr>
              <a:t>200 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074919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3ECEC"/>
          </a:solidFill>
          <a:ln w="9525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503834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474C"/>
                </a:solidFill>
                <a:latin typeface="Calibri"/>
              </a:rPr>
              <a:t>zapas do limitu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038343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123338"/>
                </a:solidFill>
                <a:latin typeface="Calibri"/>
              </a:rPr>
              <a:t>500 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1737360"/>
            <a:ext cx="5138928" cy="4224528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197510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80">
                <a:solidFill>
                  <a:srgbClr val="123338"/>
                </a:solidFill>
                <a:latin typeface="Calibri"/>
              </a:rPr>
              <a:t>KONSTRUKCJA KOMORY — KLUCZOWE DECYZJE</a:t>
            </a:r>
          </a:p>
        </p:txBody>
      </p:sp>
      <p:sp>
        <p:nvSpPr>
          <p:cNvPr id="28" name="Oval 27"/>
          <p:cNvSpPr/>
          <p:nvPr/>
        </p:nvSpPr>
        <p:spPr>
          <a:xfrm>
            <a:off x="6757416" y="2459736"/>
            <a:ext cx="109728" cy="109728"/>
          </a:xfrm>
          <a:prstGeom prst="ellipse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59" y="2395728"/>
            <a:ext cx="4270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23338"/>
                </a:solidFill>
                <a:latin typeface="Calibri"/>
              </a:rPr>
              <a:t>Aluminium AW-6061 zamiast stali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4787E"/>
                </a:solidFill>
                <a:latin typeface="Calibri"/>
              </a:rPr>
              <a:t>liczy się masa, nie maksymalna wytrzymałość.</a:t>
            </a:r>
          </a:p>
        </p:txBody>
      </p:sp>
      <p:sp>
        <p:nvSpPr>
          <p:cNvPr id="30" name="Oval 29"/>
          <p:cNvSpPr/>
          <p:nvPr/>
        </p:nvSpPr>
        <p:spPr>
          <a:xfrm>
            <a:off x="6757416" y="3172968"/>
            <a:ext cx="109728" cy="109728"/>
          </a:xfrm>
          <a:prstGeom prst="ellipse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59" y="3108960"/>
            <a:ext cx="4270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23338"/>
                </a:solidFill>
                <a:latin typeface="Calibri"/>
              </a:rPr>
              <a:t>Ścianka 3 mm (z obliczeń wystarczał 1,1 mm)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4787E"/>
                </a:solidFill>
                <a:latin typeface="Calibri"/>
              </a:rPr>
              <a:t>grubsza dla sztywności i miejsca na gwint.</a:t>
            </a:r>
          </a:p>
        </p:txBody>
      </p:sp>
      <p:sp>
        <p:nvSpPr>
          <p:cNvPr id="32" name="Oval 31"/>
          <p:cNvSpPr/>
          <p:nvPr/>
        </p:nvSpPr>
        <p:spPr>
          <a:xfrm>
            <a:off x="6757416" y="3886200"/>
            <a:ext cx="109728" cy="109728"/>
          </a:xfrm>
          <a:prstGeom prst="ellipse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59" y="3822192"/>
            <a:ext cx="4270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23338"/>
                </a:solidFill>
                <a:latin typeface="Calibri"/>
              </a:rPr>
              <a:t>Dno i pokrywa po 10 mm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4787E"/>
                </a:solidFill>
                <a:latin typeface="Calibri"/>
              </a:rPr>
              <a:t>pewne, pełne zazębienie gwintu złączek pneumatycznych.</a:t>
            </a:r>
          </a:p>
        </p:txBody>
      </p:sp>
      <p:sp>
        <p:nvSpPr>
          <p:cNvPr id="34" name="Oval 33"/>
          <p:cNvSpPr/>
          <p:nvPr/>
        </p:nvSpPr>
        <p:spPr>
          <a:xfrm>
            <a:off x="6757416" y="4599432"/>
            <a:ext cx="109728" cy="109728"/>
          </a:xfrm>
          <a:prstGeom prst="ellipse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59" y="4535424"/>
            <a:ext cx="4270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23338"/>
                </a:solidFill>
                <a:latin typeface="Calibri"/>
              </a:rPr>
              <a:t>Pokrywa M45×1,5 z uszczelką FKM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4787E"/>
                </a:solidFill>
                <a:latin typeface="Calibri"/>
              </a:rPr>
              <a:t>FKM jest odporny na rozpuszczalniki pasty Torque Seal.</a:t>
            </a:r>
          </a:p>
        </p:txBody>
      </p:sp>
      <p:sp>
        <p:nvSpPr>
          <p:cNvPr id="36" name="Oval 35"/>
          <p:cNvSpPr/>
          <p:nvPr/>
        </p:nvSpPr>
        <p:spPr>
          <a:xfrm>
            <a:off x="6757416" y="5312664"/>
            <a:ext cx="109728" cy="109728"/>
          </a:xfrm>
          <a:prstGeom prst="ellipse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59" y="5248656"/>
            <a:ext cx="4270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23338"/>
                </a:solidFill>
                <a:latin typeface="Calibri"/>
              </a:rPr>
              <a:t>Trzykrotny zapas bezpieczeństwa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4787E"/>
                </a:solidFill>
                <a:latin typeface="Calibri"/>
              </a:rPr>
              <a:t>naprężenia robocze są dużo poniżej dopuszczalnych.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MAGAZYN ODRZUTEK · ROZWIĄZANIE 1 (PROSTE)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23338"/>
                </a:solidFill>
                <a:latin typeface="Georgia"/>
              </a:rPr>
              <a:t>Rampa do niskiego pojemnika — najprostszy wariant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3736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BD8A3C"/>
                </a:solidFill>
                <a:latin typeface="Calibri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048256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20" b="0" i="0">
                <a:solidFill>
                  <a:srgbClr val="33474C"/>
                </a:solidFill>
                <a:latin typeface="Calibri"/>
              </a:rPr>
              <a:t>Detal odrzucony to nie złom — pasta jest tylko źle nałożona, można ją zeskrobać i nałożyć ponownie. Ale pasta długo zasycha: gdyby braki wpadały luzem na jeden stos, </a:t>
            </a:r>
            <a:r>
              <a:rPr sz="1220" b="1" i="0">
                <a:solidFill>
                  <a:srgbClr val="B23A2E"/>
                </a:solidFill>
                <a:latin typeface="Calibri"/>
              </a:rPr>
              <a:t>posklejałyby się mokrą pastą</a:t>
            </a:r>
            <a:r>
              <a:rPr sz="1220" b="0" i="0">
                <a:solidFill>
                  <a:srgbClr val="33474C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493008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2C7A50"/>
                </a:solidFill>
                <a:latin typeface="Calibri"/>
              </a:rPr>
              <a:t>ROZWIĄZANIE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3803904"/>
            <a:ext cx="5760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20" b="0" i="0">
                <a:solidFill>
                  <a:srgbClr val="33474C"/>
                </a:solidFill>
                <a:latin typeface="Calibri"/>
              </a:rPr>
              <a:t>Łagodna rampa prowadzi do niskiego pojemnika na podłodze; obudowy leżą płasko, w jednej warstwie. Zjeżdżając, </a:t>
            </a:r>
            <a:r>
              <a:rPr sz="1220" b="1" i="0">
                <a:solidFill>
                  <a:srgbClr val="123338"/>
                </a:solidFill>
                <a:latin typeface="Calibri"/>
              </a:rPr>
              <a:t>ustawiają się losowo</a:t>
            </a:r>
            <a:r>
              <a:rPr sz="1220" b="0" i="0">
                <a:solidFill>
                  <a:srgbClr val="33474C"/>
                </a:solidFill>
                <a:latin typeface="Calibri"/>
              </a:rPr>
              <a:t> — dlatego pojemność liczę dla najmniej korzystnego przypadku.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5138928"/>
            <a:ext cx="5760720" cy="822960"/>
          </a:xfrm>
          <a:prstGeom prst="rect">
            <a:avLst/>
          </a:prstGeom>
          <a:solidFill>
            <a:srgbClr val="F7EEDA"/>
          </a:solidFill>
          <a:ln w="12700">
            <a:solidFill>
              <a:srgbClr val="EAD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" y="5138928"/>
            <a:ext cx="64008" cy="822960"/>
          </a:xfrm>
          <a:prstGeom prst="rect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230368"/>
            <a:ext cx="539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23338"/>
                </a:solidFill>
                <a:latin typeface="Calibri"/>
              </a:rPr>
              <a:t>Minus:  </a:t>
            </a:r>
            <a:r>
              <a:rPr sz="1120" b="0" i="0">
                <a:solidFill>
                  <a:srgbClr val="33474C"/>
                </a:solidFill>
                <a:latin typeface="Calibri"/>
              </a:rPr>
              <a:t>pojemność jest niepewna, a przy wylocie rampy detale mogą się zetknąć. Dlatego mam wariant docelowy — następny slajd.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737360"/>
            <a:ext cx="5029200" cy="4224528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93852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40">
                <a:solidFill>
                  <a:srgbClr val="123338"/>
                </a:solidFill>
                <a:latin typeface="Calibri"/>
              </a:rPr>
              <a:t>POJEMNIK — LOSOWE UŁOŻENIE (Z GÓRY)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22592" y="2331720"/>
            <a:ext cx="4114800" cy="2212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1590">
            <a:solidFill>
              <a:srgbClr val="15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960000">
            <a:off x="7306055" y="2583179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19920000">
            <a:off x="8156448" y="2519172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 rot="2400000">
            <a:off x="9025128" y="2628900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 rot="20760000">
            <a:off x="9893807" y="2555748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 rot="19560000">
            <a:off x="7269480" y="3223260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 rot="1320000">
            <a:off x="8110727" y="3268979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 rot="18720000">
            <a:off x="9025128" y="3195827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 rot="1800000">
            <a:off x="9939528" y="3268979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 rot="600000">
            <a:off x="7671815" y="3909059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 rot="20280000">
            <a:off x="8613648" y="3909059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 rot="2760000">
            <a:off x="9555480" y="3872483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 rot="18120000">
            <a:off x="10351007" y="3012948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D6A858"/>
          </a:solidFill>
          <a:ln w="762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4599431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87E"/>
                </a:solidFill>
                <a:latin typeface="Calibri"/>
              </a:rPr>
              <a:t>obudowa 64 × 58 mm rezerwuje pole ≈ 90 × 90 mm (przekątna 86 mm)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39712" y="4901184"/>
            <a:ext cx="4480560" cy="877824"/>
          </a:xfrm>
          <a:prstGeom prst="rect">
            <a:avLst/>
          </a:prstGeom>
          <a:solidFill>
            <a:srgbClr val="E6F0EA"/>
          </a:solidFill>
          <a:ln w="12700">
            <a:solidFill>
              <a:srgbClr val="CF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39712" y="4901184"/>
            <a:ext cx="64008" cy="877824"/>
          </a:xfrm>
          <a:prstGeom prst="rect">
            <a:avLst/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4974336"/>
            <a:ext cx="42062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C7A50"/>
                </a:solidFill>
                <a:latin typeface="Georgia"/>
              </a:rPr>
              <a:t>≈ 15 obudów</a:t>
            </a:r>
            <a:r>
              <a:rPr sz="950" b="0" i="0">
                <a:solidFill>
                  <a:srgbClr val="64787E"/>
                </a:solidFill>
                <a:latin typeface="Calibri"/>
              </a:rPr>
              <a:t>  (najmniej korzystne)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74C"/>
                </a:solidFill>
                <a:latin typeface="Calibri"/>
              </a:rPr>
              <a:t>Pojemnik 600 × 400 mm · starcza na ~500–800 detali między wymianami.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MAGAZYN ODRZUTEK · ROZWIĄZANIE 2 (FINALNE)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23338"/>
                </a:solidFill>
                <a:latin typeface="Georgia"/>
              </a:rPr>
              <a:t>Indeksowany magazyn z gniazdami — wariant docelowy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5564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2C7A50"/>
                </a:solidFill>
                <a:latin typeface="Calibri"/>
              </a:rPr>
              <a:t>POMYSŁ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066543"/>
            <a:ext cx="56692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 i="0">
                <a:solidFill>
                  <a:srgbClr val="33474C"/>
                </a:solidFill>
                <a:latin typeface="Calibri"/>
              </a:rPr>
              <a:t>Zamiast pozwalać detalom układać się losowo, </a:t>
            </a:r>
            <a:r>
              <a:rPr sz="1220" b="1" i="0">
                <a:solidFill>
                  <a:srgbClr val="123338"/>
                </a:solidFill>
                <a:latin typeface="Calibri"/>
              </a:rPr>
              <a:t>wymuszam miejsce każdego z nich</a:t>
            </a:r>
            <a:r>
              <a:rPr sz="1220" b="0" i="0">
                <a:solidFill>
                  <a:srgbClr val="33474C"/>
                </a:solidFill>
                <a:latin typeface="Calibri"/>
              </a:rPr>
              <a:t>. Po każdym odrzucie magazyn przesuwa się o jedno gniazdo, a obudowa trafia w wydzielone, zorientowane miejsce.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52958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40">
                <a:solidFill>
                  <a:srgbClr val="2C7A50"/>
                </a:solidFill>
                <a:latin typeface="Calibri"/>
              </a:rPr>
              <a:t>CO TO NAPRAWIA</a:t>
            </a:r>
          </a:p>
        </p:txBody>
      </p:sp>
      <p:sp>
        <p:nvSpPr>
          <p:cNvPr id="8" name="Oval 7"/>
          <p:cNvSpPr/>
          <p:nvPr/>
        </p:nvSpPr>
        <p:spPr>
          <a:xfrm>
            <a:off x="603504" y="3886200"/>
            <a:ext cx="118872" cy="118872"/>
          </a:xfrm>
          <a:prstGeom prst="ellipse">
            <a:avLst/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840480"/>
            <a:ext cx="5349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40" b="1" i="0">
                <a:solidFill>
                  <a:srgbClr val="123338"/>
                </a:solidFill>
                <a:latin typeface="Calibri"/>
              </a:rPr>
              <a:t>Brak kontaktu mokrych powierzchni</a:t>
            </a:r>
            <a:r>
              <a:rPr sz="1080" b="0" i="0">
                <a:solidFill>
                  <a:srgbClr val="64787E"/>
                </a:solidFill>
                <a:latin typeface="Calibri"/>
              </a:rPr>
              <a:t> — każdy detal osobno, w stałej orientacji.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4343400"/>
            <a:ext cx="118872" cy="118872"/>
          </a:xfrm>
          <a:prstGeom prst="ellipse">
            <a:avLst/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297680"/>
            <a:ext cx="5349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40" b="1" i="0">
                <a:solidFill>
                  <a:srgbClr val="123338"/>
                </a:solidFill>
                <a:latin typeface="Calibri"/>
              </a:rPr>
              <a:t>Pojemność pewna i powtarzalna</a:t>
            </a:r>
            <a:r>
              <a:rPr sz="1080" b="0" i="0">
                <a:solidFill>
                  <a:srgbClr val="64787E"/>
                </a:solidFill>
                <a:latin typeface="Calibri"/>
              </a:rPr>
              <a:t> — wynika z liczby gniazd, nie z przypadku.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4800600"/>
            <a:ext cx="118872" cy="118872"/>
          </a:xfrm>
          <a:prstGeom prst="ellipse">
            <a:avLst/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754880"/>
            <a:ext cx="5349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40" b="1" i="0">
                <a:solidFill>
                  <a:srgbClr val="123338"/>
                </a:solidFill>
                <a:latin typeface="Calibri"/>
              </a:rPr>
              <a:t>Proste liczenie i sygnał zapełnienia</a:t>
            </a:r>
            <a:r>
              <a:rPr sz="1080" b="0" i="0">
                <a:solidFill>
                  <a:srgbClr val="64787E"/>
                </a:solidFill>
                <a:latin typeface="Calibri"/>
              </a:rPr>
              <a:t> — jedno indeksowanie = jeden detal.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5257800"/>
            <a:ext cx="118872" cy="118872"/>
          </a:xfrm>
          <a:prstGeom prst="ellipse">
            <a:avLst/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212080"/>
            <a:ext cx="5349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40" b="1" i="0">
                <a:solidFill>
                  <a:srgbClr val="123338"/>
                </a:solidFill>
                <a:latin typeface="Calibri"/>
              </a:rPr>
              <a:t>Gotowy bufor FIFO do ponownej obróbki</a:t>
            </a:r>
            <a:r>
              <a:rPr sz="1080" b="0" i="0">
                <a:solidFill>
                  <a:srgbClr val="64787E"/>
                </a:solidFill>
                <a:latin typeface="Calibri"/>
              </a:rPr>
              <a:t> — braki wracają w kolejności odrzutu.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572414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1" i="0">
                <a:solidFill>
                  <a:srgbClr val="123338"/>
                </a:solidFill>
                <a:latin typeface="Calibri"/>
              </a:rPr>
              <a:t>Koszt: </a:t>
            </a:r>
            <a:r>
              <a:rPr sz="1080" b="0" i="0">
                <a:solidFill>
                  <a:srgbClr val="33474C"/>
                </a:solidFill>
                <a:latin typeface="Calibri"/>
              </a:rPr>
              <a:t>dodatkowy napęd i sterowanie — ale spójny z serwonapędem przekładki, który już jest w stanowisku.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737360"/>
            <a:ext cx="5138928" cy="4224528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56816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50">
                <a:solidFill>
                  <a:srgbClr val="123338"/>
                </a:solidFill>
                <a:latin typeface="Calibri"/>
              </a:rPr>
              <a:t>INDEKSOWANY MAGAZYN — SCHEMAT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93992" y="2935224"/>
            <a:ext cx="45720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5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3720" y="3063240"/>
            <a:ext cx="566928" cy="822960"/>
          </a:xfrm>
          <a:prstGeom prst="roundRect">
            <a:avLst>
              <a:gd name="adj" fmla="val 6000"/>
            </a:avLst>
          </a:prstGeom>
          <a:solidFill>
            <a:srgbClr val="E3ECEC"/>
          </a:solidFill>
          <a:ln w="1016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95159" y="3227832"/>
            <a:ext cx="384048" cy="493776"/>
          </a:xfrm>
          <a:prstGeom prst="roundRect">
            <a:avLst>
              <a:gd name="adj" fmla="val 10000"/>
            </a:avLst>
          </a:prstGeom>
          <a:solidFill>
            <a:srgbClr val="D6A858"/>
          </a:solidFill>
          <a:ln w="889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34656" y="3063240"/>
            <a:ext cx="566928" cy="822960"/>
          </a:xfrm>
          <a:prstGeom prst="roundRect">
            <a:avLst>
              <a:gd name="adj" fmla="val 6000"/>
            </a:avLst>
          </a:prstGeom>
          <a:solidFill>
            <a:srgbClr val="E3ECEC"/>
          </a:solidFill>
          <a:ln w="1016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26096" y="3227832"/>
            <a:ext cx="384048" cy="493776"/>
          </a:xfrm>
          <a:prstGeom prst="roundRect">
            <a:avLst>
              <a:gd name="adj" fmla="val 10000"/>
            </a:avLst>
          </a:prstGeom>
          <a:solidFill>
            <a:srgbClr val="D6A858"/>
          </a:solidFill>
          <a:ln w="889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65592" y="3063240"/>
            <a:ext cx="566928" cy="822960"/>
          </a:xfrm>
          <a:prstGeom prst="roundRect">
            <a:avLst>
              <a:gd name="adj" fmla="val 6000"/>
            </a:avLst>
          </a:prstGeom>
          <a:solidFill>
            <a:srgbClr val="E3ECEC"/>
          </a:solidFill>
          <a:ln w="1016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57031" y="3227832"/>
            <a:ext cx="384048" cy="493776"/>
          </a:xfrm>
          <a:prstGeom prst="roundRect">
            <a:avLst>
              <a:gd name="adj" fmla="val 10000"/>
            </a:avLst>
          </a:prstGeom>
          <a:solidFill>
            <a:srgbClr val="D6A858"/>
          </a:solidFill>
          <a:ln w="889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3063240"/>
            <a:ext cx="566928" cy="822960"/>
          </a:xfrm>
          <a:prstGeom prst="roundRect">
            <a:avLst>
              <a:gd name="adj" fmla="val 6000"/>
            </a:avLst>
          </a:prstGeom>
          <a:solidFill>
            <a:srgbClr val="E3ECEC"/>
          </a:solidFill>
          <a:ln w="1016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87967" y="3227832"/>
            <a:ext cx="384048" cy="493776"/>
          </a:xfrm>
          <a:prstGeom prst="roundRect">
            <a:avLst>
              <a:gd name="adj" fmla="val 10000"/>
            </a:avLst>
          </a:prstGeom>
          <a:solidFill>
            <a:srgbClr val="D6A858"/>
          </a:solidFill>
          <a:ln w="889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27463" y="3063240"/>
            <a:ext cx="566928" cy="822960"/>
          </a:xfrm>
          <a:prstGeom prst="roundRect">
            <a:avLst>
              <a:gd name="adj" fmla="val 6000"/>
            </a:avLst>
          </a:prstGeom>
          <a:solidFill>
            <a:srgbClr val="E3ECEC"/>
          </a:solidFill>
          <a:ln w="1016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18903" y="3227832"/>
            <a:ext cx="384048" cy="493776"/>
          </a:xfrm>
          <a:prstGeom prst="roundRect">
            <a:avLst>
              <a:gd name="adj" fmla="val 10000"/>
            </a:avLst>
          </a:prstGeom>
          <a:solidFill>
            <a:srgbClr val="D6A858"/>
          </a:solidFill>
          <a:ln w="8890">
            <a:solidFill>
              <a:srgbClr val="BD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58400" y="3063240"/>
            <a:ext cx="566928" cy="822960"/>
          </a:xfrm>
          <a:prstGeom prst="roundRect">
            <a:avLst>
              <a:gd name="adj" fmla="val 6000"/>
            </a:avLst>
          </a:prstGeom>
          <a:solidFill>
            <a:srgbClr val="E3ECEC"/>
          </a:solidFill>
          <a:ln w="1016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89336" y="3063240"/>
            <a:ext cx="566928" cy="822960"/>
          </a:xfrm>
          <a:prstGeom prst="roundRect">
            <a:avLst>
              <a:gd name="adj" fmla="val 6000"/>
            </a:avLst>
          </a:prstGeom>
          <a:solidFill>
            <a:srgbClr val="E3ECEC"/>
          </a:solidFill>
          <a:ln w="10160">
            <a:solidFill>
              <a:srgbClr val="2C6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2496312"/>
            <a:ext cx="5669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C7A50"/>
                </a:solidFill>
                <a:latin typeface="Calibri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240280"/>
            <a:ext cx="12070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C7A50"/>
                </a:solidFill>
                <a:latin typeface="Calibri"/>
              </a:rPr>
              <a:t>wpada detal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105656"/>
            <a:ext cx="4352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30" b="0" i="0">
                <a:solidFill>
                  <a:srgbClr val="64787E"/>
                </a:solidFill>
                <a:latin typeface="Calibri"/>
              </a:rPr>
              <a:t>indeksowanie o jedno gniazdo po każdym odrzucie  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4956048"/>
            <a:ext cx="4590288" cy="822960"/>
          </a:xfrm>
          <a:prstGeom prst="rect">
            <a:avLst/>
          </a:prstGeom>
          <a:solidFill>
            <a:srgbClr val="E6F0EA"/>
          </a:solidFill>
          <a:ln w="12700">
            <a:solidFill>
              <a:srgbClr val="CF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20840" y="4956048"/>
            <a:ext cx="64008" cy="822960"/>
          </a:xfrm>
          <a:prstGeom prst="rect">
            <a:avLst/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5029200"/>
            <a:ext cx="431596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30" b="1" i="0">
                <a:solidFill>
                  <a:srgbClr val="2C7A50"/>
                </a:solidFill>
                <a:latin typeface="Calibri"/>
              </a:rPr>
              <a:t>Losowość → determinizm:  </a:t>
            </a:r>
            <a:r>
              <a:rPr sz="1080" b="0" i="0">
                <a:solidFill>
                  <a:srgbClr val="33474C"/>
                </a:solidFill>
                <a:latin typeface="Calibri"/>
              </a:rPr>
              <a:t>pojemność i brak kontaktu nie zależą już od tego, jak detal zjedzie rampą.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ANALIZA RYZYKA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23338"/>
                </a:solidFill>
                <a:latin typeface="Georgia"/>
              </a:rPr>
              <a:t>Rejestr ryzyka i jego redukcja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4787E"/>
                </a:solidFill>
                <a:latin typeface="Calibri"/>
              </a:rPr>
              <a:t>Ryzyka wychwytywałem na etapie obliczeń i walidacji — m.in. regułą minimum 30 % zapasu momentu na każdej osi i sprawdzaniem dostępności modeli CAD jeszcze przed doborem elementów.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7008" y="4809744"/>
            <a:ext cx="603504" cy="603504"/>
          </a:xfrm>
          <a:prstGeom prst="rect">
            <a:avLst/>
          </a:prstGeom>
          <a:solidFill>
            <a:srgbClr val="DCEB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4206240"/>
            <a:ext cx="603504" cy="603504"/>
          </a:xfrm>
          <a:prstGeom prst="rect">
            <a:avLst/>
          </a:prstGeom>
          <a:solidFill>
            <a:srgbClr val="DCEB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07008" y="3602736"/>
            <a:ext cx="603504" cy="603504"/>
          </a:xfrm>
          <a:prstGeom prst="rect">
            <a:avLst/>
          </a:prstGeom>
          <a:solidFill>
            <a:srgbClr val="DCEB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2999232"/>
            <a:ext cx="603504" cy="603504"/>
          </a:xfrm>
          <a:prstGeom prst="rect">
            <a:avLst/>
          </a:prstGeom>
          <a:solidFill>
            <a:srgbClr val="DCEB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7008" y="2395728"/>
            <a:ext cx="603504" cy="603504"/>
          </a:xfrm>
          <a:prstGeom prst="rect">
            <a:avLst/>
          </a:prstGeom>
          <a:solidFill>
            <a:srgbClr val="EAF0C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10512" y="4809744"/>
            <a:ext cx="603504" cy="603504"/>
          </a:xfrm>
          <a:prstGeom prst="rect">
            <a:avLst/>
          </a:prstGeom>
          <a:solidFill>
            <a:srgbClr val="DCEB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10512" y="4206240"/>
            <a:ext cx="603504" cy="603504"/>
          </a:xfrm>
          <a:prstGeom prst="rect">
            <a:avLst/>
          </a:prstGeom>
          <a:solidFill>
            <a:srgbClr val="DCEB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10512" y="3602736"/>
            <a:ext cx="603504" cy="603504"/>
          </a:xfrm>
          <a:prstGeom prst="rect">
            <a:avLst/>
          </a:prstGeom>
          <a:solidFill>
            <a:srgbClr val="EAF0C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10512" y="2999232"/>
            <a:ext cx="603504" cy="603504"/>
          </a:xfrm>
          <a:prstGeom prst="rect">
            <a:avLst/>
          </a:prstGeom>
          <a:solidFill>
            <a:srgbClr val="EAF0C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10512" y="2395728"/>
            <a:ext cx="603504" cy="603504"/>
          </a:xfrm>
          <a:prstGeom prst="rect">
            <a:avLst/>
          </a:prstGeom>
          <a:solidFill>
            <a:srgbClr val="FBEFC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14016" y="4809744"/>
            <a:ext cx="603504" cy="603504"/>
          </a:xfrm>
          <a:prstGeom prst="rect">
            <a:avLst/>
          </a:prstGeom>
          <a:solidFill>
            <a:srgbClr val="DCEB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14016" y="4206240"/>
            <a:ext cx="603504" cy="603504"/>
          </a:xfrm>
          <a:prstGeom prst="rect">
            <a:avLst/>
          </a:prstGeom>
          <a:solidFill>
            <a:srgbClr val="EAF0C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14016" y="3602736"/>
            <a:ext cx="603504" cy="603504"/>
          </a:xfrm>
          <a:prstGeom prst="rect">
            <a:avLst/>
          </a:prstGeom>
          <a:solidFill>
            <a:srgbClr val="FBEFC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14016" y="2999232"/>
            <a:ext cx="603504" cy="603504"/>
          </a:xfrm>
          <a:prstGeom prst="rect">
            <a:avLst/>
          </a:prstGeom>
          <a:solidFill>
            <a:srgbClr val="FBEFC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14016" y="2395728"/>
            <a:ext cx="603504" cy="603504"/>
          </a:xfrm>
          <a:prstGeom prst="rect">
            <a:avLst/>
          </a:prstGeom>
          <a:solidFill>
            <a:srgbClr val="F2DBB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17520" y="4809744"/>
            <a:ext cx="603504" cy="603504"/>
          </a:xfrm>
          <a:prstGeom prst="rect">
            <a:avLst/>
          </a:prstGeom>
          <a:solidFill>
            <a:srgbClr val="DCEB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4206240"/>
            <a:ext cx="603504" cy="603504"/>
          </a:xfrm>
          <a:prstGeom prst="rect">
            <a:avLst/>
          </a:prstGeom>
          <a:solidFill>
            <a:srgbClr val="EAF0C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17520" y="3602736"/>
            <a:ext cx="603504" cy="603504"/>
          </a:xfrm>
          <a:prstGeom prst="rect">
            <a:avLst/>
          </a:prstGeom>
          <a:solidFill>
            <a:srgbClr val="FBEFC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0" y="2999232"/>
            <a:ext cx="603504" cy="603504"/>
          </a:xfrm>
          <a:prstGeom prst="rect">
            <a:avLst/>
          </a:prstGeom>
          <a:solidFill>
            <a:srgbClr val="F2DBB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17520" y="2395728"/>
            <a:ext cx="603504" cy="603504"/>
          </a:xfrm>
          <a:prstGeom prst="rect">
            <a:avLst/>
          </a:prstGeom>
          <a:solidFill>
            <a:srgbClr val="F1C3B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21024" y="4809744"/>
            <a:ext cx="603504" cy="603504"/>
          </a:xfrm>
          <a:prstGeom prst="rect">
            <a:avLst/>
          </a:prstGeom>
          <a:solidFill>
            <a:srgbClr val="EAF0C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21024" y="4206240"/>
            <a:ext cx="603504" cy="603504"/>
          </a:xfrm>
          <a:prstGeom prst="rect">
            <a:avLst/>
          </a:prstGeom>
          <a:solidFill>
            <a:srgbClr val="FBEFC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21024" y="3602736"/>
            <a:ext cx="603504" cy="603504"/>
          </a:xfrm>
          <a:prstGeom prst="rect">
            <a:avLst/>
          </a:prstGeom>
          <a:solidFill>
            <a:srgbClr val="F2DBB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21024" y="2999232"/>
            <a:ext cx="603504" cy="603504"/>
          </a:xfrm>
          <a:prstGeom prst="rect">
            <a:avLst/>
          </a:prstGeom>
          <a:solidFill>
            <a:srgbClr val="F1C3B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21024" y="2395728"/>
            <a:ext cx="603504" cy="603504"/>
          </a:xfrm>
          <a:prstGeom prst="rect">
            <a:avLst/>
          </a:prstGeom>
          <a:solidFill>
            <a:srgbClr val="F1C3B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7008" y="5449824"/>
            <a:ext cx="6035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0512" y="5449824"/>
            <a:ext cx="6035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5449824"/>
            <a:ext cx="6035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449824"/>
            <a:ext cx="6035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5449824"/>
            <a:ext cx="6035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809744"/>
            <a:ext cx="2377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206240"/>
            <a:ext cx="2377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3602736"/>
            <a:ext cx="2377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2999232"/>
            <a:ext cx="2377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2395728"/>
            <a:ext cx="2377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87E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8" y="5669280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80">
                <a:solidFill>
                  <a:srgbClr val="123338"/>
                </a:solidFill>
                <a:latin typeface="Calibri"/>
              </a:rPr>
              <a:t>SKUTEK  →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338328" y="36027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60">
                <a:solidFill>
                  <a:srgbClr val="123338"/>
                </a:solidFill>
                <a:latin typeface="Calibri"/>
              </a:rPr>
              <a:t>PRAWDOPODOBIEŃSTWO  →</a:t>
            </a:r>
          </a:p>
        </p:txBody>
      </p:sp>
      <p:sp>
        <p:nvSpPr>
          <p:cNvPr id="43" name="Oval 42"/>
          <p:cNvSpPr/>
          <p:nvPr/>
        </p:nvSpPr>
        <p:spPr>
          <a:xfrm>
            <a:off x="3145536" y="3730752"/>
            <a:ext cx="347472" cy="347472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45536" y="373075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3145536" y="3127248"/>
            <a:ext cx="347472" cy="347472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45536" y="31272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7" name="Oval 46"/>
          <p:cNvSpPr/>
          <p:nvPr/>
        </p:nvSpPr>
        <p:spPr>
          <a:xfrm>
            <a:off x="2542032" y="3730752"/>
            <a:ext cx="347472" cy="347472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2032" y="373075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9" name="Oval 48"/>
          <p:cNvSpPr/>
          <p:nvPr/>
        </p:nvSpPr>
        <p:spPr>
          <a:xfrm>
            <a:off x="1938528" y="3730752"/>
            <a:ext cx="347472" cy="347472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38528" y="373075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51" name="Oval 50"/>
          <p:cNvSpPr/>
          <p:nvPr/>
        </p:nvSpPr>
        <p:spPr>
          <a:xfrm>
            <a:off x="2542032" y="4334255"/>
            <a:ext cx="347472" cy="347472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42032" y="433425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53" name="Oval 52"/>
          <p:cNvSpPr/>
          <p:nvPr/>
        </p:nvSpPr>
        <p:spPr>
          <a:xfrm>
            <a:off x="1938528" y="4334255"/>
            <a:ext cx="347472" cy="347472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38528" y="433425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1288" y="59253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4787E"/>
                </a:solidFill>
                <a:latin typeface="Calibri"/>
              </a:rPr>
              <a:t>Pozycja przed działaniami zaradczymi · ocena jakościowa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228600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64787E"/>
                </a:solidFill>
                <a:latin typeface="Calibri"/>
              </a:rPr>
              <a:t>RYZYKO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28600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64787E"/>
                </a:solidFill>
                <a:latin typeface="Calibri"/>
              </a:rPr>
              <a:t>REAKCJA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34472" y="2286000"/>
            <a:ext cx="10241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20">
                <a:solidFill>
                  <a:srgbClr val="64787E"/>
                </a:solidFill>
                <a:latin typeface="Calibri"/>
              </a:rPr>
              <a:t>PO REAKCJI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74920" y="2596896"/>
            <a:ext cx="6583680" cy="548640"/>
          </a:xfrm>
          <a:prstGeom prst="roundRect">
            <a:avLst>
              <a:gd name="adj" fmla="val 7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184648" y="2706624"/>
            <a:ext cx="329184" cy="329184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84648" y="270662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05272" y="2596896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3338"/>
                </a:solidFill>
                <a:latin typeface="Calibri"/>
              </a:rPr>
              <a:t>Moment napędu osi 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2596896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33474C"/>
                </a:solidFill>
                <a:latin typeface="Calibri"/>
              </a:rPr>
              <a:t>łagodniejsze przyspieszenie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579608" y="2724912"/>
            <a:ext cx="950976" cy="301752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79608" y="2715768"/>
            <a:ext cx="95097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7A50"/>
                </a:solidFill>
                <a:latin typeface="Calibri"/>
              </a:rPr>
              <a:t>46 %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74920" y="3214115"/>
            <a:ext cx="6583680" cy="548640"/>
          </a:xfrm>
          <a:prstGeom prst="roundRect">
            <a:avLst>
              <a:gd name="adj" fmla="val 7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184648" y="3323844"/>
            <a:ext cx="329184" cy="329184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84648" y="332384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05272" y="3214115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3338"/>
                </a:solidFill>
                <a:latin typeface="Calibri"/>
              </a:rPr>
              <a:t>Kapanie pasty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214115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33474C"/>
                </a:solidFill>
                <a:latin typeface="Calibri"/>
              </a:rPr>
              <a:t>dozownik z układem suck-back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579608" y="3342132"/>
            <a:ext cx="950976" cy="301752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79608" y="3332988"/>
            <a:ext cx="95097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7A50"/>
                </a:solidFill>
                <a:latin typeface="Calibri"/>
              </a:rPr>
              <a:t>niskie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74920" y="3831335"/>
            <a:ext cx="6583680" cy="548640"/>
          </a:xfrm>
          <a:prstGeom prst="roundRect">
            <a:avLst>
              <a:gd name="adj" fmla="val 7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184648" y="3941063"/>
            <a:ext cx="329184" cy="329184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84648" y="394106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05272" y="3831335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3338"/>
                </a:solidFill>
                <a:latin typeface="Calibri"/>
              </a:rPr>
              <a:t>Wzajemne brudzenie braków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21040" y="3831335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33474C"/>
                </a:solidFill>
                <a:latin typeface="Calibri"/>
              </a:rPr>
              <a:t>rampa + niski pojemnik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579608" y="3959351"/>
            <a:ext cx="950976" cy="301752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79608" y="3950207"/>
            <a:ext cx="95097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7A50"/>
                </a:solidFill>
                <a:latin typeface="Calibri"/>
              </a:rPr>
              <a:t>niskie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074920" y="4448555"/>
            <a:ext cx="6583680" cy="548640"/>
          </a:xfrm>
          <a:prstGeom prst="roundRect">
            <a:avLst>
              <a:gd name="adj" fmla="val 7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184648" y="4558283"/>
            <a:ext cx="329184" cy="329184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84648" y="455828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05272" y="4448555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3338"/>
                </a:solidFill>
                <a:latin typeface="Calibri"/>
              </a:rPr>
              <a:t>Brak modeli CAD części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040" y="4448555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33474C"/>
                </a:solidFill>
                <a:latin typeface="Calibri"/>
              </a:rPr>
              <a:t>substytucja odpowiedników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579608" y="4576571"/>
            <a:ext cx="950976" cy="301752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579608" y="4567427"/>
            <a:ext cx="95097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7A50"/>
                </a:solidFill>
                <a:latin typeface="Calibri"/>
              </a:rPr>
              <a:t>niskie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074920" y="5065775"/>
            <a:ext cx="6583680" cy="548640"/>
          </a:xfrm>
          <a:prstGeom prst="roundRect">
            <a:avLst>
              <a:gd name="adj" fmla="val 7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184648" y="5175503"/>
            <a:ext cx="329184" cy="329184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84648" y="517550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05272" y="5065775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3338"/>
                </a:solidFill>
                <a:latin typeface="Calibri"/>
              </a:rPr>
              <a:t>Integracja robota SCARA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21040" y="5065775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33474C"/>
                </a:solidFill>
                <a:latin typeface="Calibri"/>
              </a:rPr>
              <a:t>FANUC jako węzeł Profinet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579608" y="5193791"/>
            <a:ext cx="950976" cy="301752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79608" y="5184647"/>
            <a:ext cx="95097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7A50"/>
                </a:solidFill>
                <a:latin typeface="Calibri"/>
              </a:rPr>
              <a:t>niskie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074920" y="5682995"/>
            <a:ext cx="6583680" cy="548640"/>
          </a:xfrm>
          <a:prstGeom prst="roundRect">
            <a:avLst>
              <a:gd name="adj" fmla="val 7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184648" y="5792723"/>
            <a:ext cx="329184" cy="329184"/>
          </a:xfrm>
          <a:prstGeom prst="ellipse">
            <a:avLst/>
          </a:prstGeom>
          <a:solidFill>
            <a:srgbClr val="12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84648" y="579272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F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05272" y="5682995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3338"/>
                </a:solidFill>
                <a:latin typeface="Calibri"/>
              </a:rPr>
              <a:t>Gubienie kroków napędu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21040" y="5682995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33474C"/>
                </a:solidFill>
                <a:latin typeface="Calibri"/>
              </a:rPr>
              <a:t>budżet masy + duży zapas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579608" y="5811011"/>
            <a:ext cx="950976" cy="301752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79608" y="5801867"/>
            <a:ext cx="95097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7A50"/>
                </a:solidFill>
                <a:latin typeface="Calibri"/>
              </a:rPr>
              <a:t>niskie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OBSŁUGA ZDARZEŃ AWARYJNYCH ·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338"/>
                </a:solidFill>
                <a:latin typeface="Georgia"/>
              </a:rPr>
              <a:t>Co może pójść nie tak — i jak system reaguje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276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3474C"/>
                </a:solidFill>
                <a:latin typeface="Calibri"/>
              </a:rPr>
              <a:t>Sterowanie nie zakłada, że wszystko idzie idealnie. Dla każdego zdarzenia szczególnego zdefiniowałem sposób wykrycia i bezpieczną reakcję.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2157984"/>
            <a:ext cx="3493008" cy="4114800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39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3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95728"/>
            <a:ext cx="25786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3338"/>
                </a:solidFill>
                <a:latin typeface="Calibri"/>
              </a:rPr>
              <a:t>Podawanie i transport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44368"/>
            <a:ext cx="3017520" cy="14630"/>
          </a:xfrm>
          <a:prstGeom prst="rect">
            <a:avLst/>
          </a:prstGeom>
          <a:solidFill>
            <a:srgbClr val="C7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090672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Brak detalu od robota SCARA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33756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upływ czasu oczekiwania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wstrzymanie, ponowne żądanie, alarm.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41648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Detal przesunięty lub obrócony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288536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czujnik pozycji / kontrola wizyjna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nie nakładaj pasty — korekta lub odrzut.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992624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Detal zakleszczony na przesuwniku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239512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brak ruchu mimo komendy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zatrzymanie i alarm.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399" y="2157984"/>
            <a:ext cx="3493008" cy="4114800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81143" y="2377439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3" y="237743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3" y="2395728"/>
            <a:ext cx="25786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3338"/>
                </a:solidFill>
                <a:latin typeface="Calibri"/>
              </a:rPr>
              <a:t>Dozowanie i pasta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81143" y="2944368"/>
            <a:ext cx="3017520" cy="14630"/>
          </a:xfrm>
          <a:prstGeom prst="rect">
            <a:avLst/>
          </a:prstGeom>
          <a:solidFill>
            <a:srgbClr val="C7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1" y="3090672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Pusty lub wyczerpany kartusz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1" y="333756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spadek ciśnienia w komorze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żądanie wymiany + odpowietrzenie (Purge).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1" y="4041648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Zatkana lub zużyta igła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4288536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brak / niepełna plomba w wizji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odrzut detalu, alarm wymiany igły.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4992624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Brak podciśnienia suck-back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5239512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czujnik podciśnienia poniżej progu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wstrzymanie — inaczej pasta zacznie kapać.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2157984"/>
            <a:ext cx="3493008" cy="4114800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9327" y="2377439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237743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7" y="2395728"/>
            <a:ext cx="25786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3338"/>
                </a:solidFill>
                <a:latin typeface="Calibri"/>
              </a:rPr>
              <a:t>Odrzut i sortowanie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39327" y="2944368"/>
            <a:ext cx="3017520" cy="14630"/>
          </a:xfrm>
          <a:prstGeom prst="rect">
            <a:avLst/>
          </a:prstGeom>
          <a:solidFill>
            <a:srgbClr val="C7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5" y="3090672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Przekładka otwiera się za wolno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5" y="333756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brak potwierdzenia położenia w czasie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stop przesuwnika, alarm smarowania serwa.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5" y="4041648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Detal nie zjechał rampą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5" y="4288536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czujnik na rampie nie potwierdza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zatrzymanie i alarm.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5" y="4992624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Pojemnik braków pełny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5" y="5239512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czujnik zapełnienia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wstrzymanie odrzutów, wymiana pojemnika.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OBSŁUGA ZDARZEŃ AWARYJNYCH ·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23338"/>
                </a:solidFill>
                <a:latin typeface="Georgia"/>
              </a:rPr>
              <a:t>Awarie napędów, wizji i mediów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10512"/>
            <a:ext cx="3493008" cy="3968496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29967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29967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48256"/>
            <a:ext cx="25786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3338"/>
                </a:solidFill>
                <a:latin typeface="Calibri"/>
              </a:rPr>
              <a:t>Kontrola wizyjna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96896"/>
            <a:ext cx="3017520" cy="14630"/>
          </a:xfrm>
          <a:prstGeom prst="rect">
            <a:avLst/>
          </a:prstGeom>
          <a:solidFill>
            <a:srgbClr val="C7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743200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Niejednoznaczny wynik inspekcji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90088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brak pewnego werdyktu OK/NOK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domyślnie NOK (bezpiecznie) + alarm.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94176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Zabrudzony obiektyw lub złe światło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941064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spadek kontrastu / jasności obrazu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alarm czyszczenia, wynik niepewny = NOK.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645152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Utrata łączności z kamerą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89204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watchdog komunikacji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zatrzymanie cyklu.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399" y="1810512"/>
            <a:ext cx="3493008" cy="3968496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1143" y="2029967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3" y="2029967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3" y="2048256"/>
            <a:ext cx="25786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3338"/>
                </a:solidFill>
                <a:latin typeface="Calibri"/>
              </a:rPr>
              <a:t>Napędy i pozycja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81143" y="2596896"/>
            <a:ext cx="3017520" cy="14630"/>
          </a:xfrm>
          <a:prstGeom prst="rect">
            <a:avLst/>
          </a:prstGeom>
          <a:solidFill>
            <a:srgbClr val="C7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1" y="2743200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Utrata kroków silnika krokowego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1" y="2990088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rozbieżność przy bazowaniu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ponowny Homing, przy powtórkach alarm.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1" y="3694176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Przeciążenie lub kolizja osi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1" y="3941064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bit błędu sterownika napędu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szybki stop, reset i ponowne bazowanie.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4645152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Brak potwierdzenia pozycji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489204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upływ czasu ruchu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zatrzymanie cyklu.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1810512"/>
            <a:ext cx="3493008" cy="3968496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39327" y="2029967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2029967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7" y="2048256"/>
            <a:ext cx="25786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3338"/>
                </a:solidFill>
                <a:latin typeface="Calibri"/>
              </a:rPr>
              <a:t>Media i bezpieczeństwo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39327" y="2596896"/>
            <a:ext cx="3017520" cy="14630"/>
          </a:xfrm>
          <a:prstGeom prst="rect">
            <a:avLst/>
          </a:prstGeom>
          <a:solidFill>
            <a:srgbClr val="C7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5" y="2743200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Zanik sprężonego powietrza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5" y="2990088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czujnik ciśnienia zasilania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bez powietrza brak dozowania → bezpieczny stop.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5" y="3694176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E-Stop lub otwarcie osłony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5" y="3941064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obwód bezpieczeństwa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natychmiastowe odcięcie zaworów i napędów.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5" y="4645152"/>
            <a:ext cx="3035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 i="0">
                <a:solidFill>
                  <a:srgbClr val="123338"/>
                </a:solidFill>
                <a:latin typeface="Calibri"/>
              </a:rPr>
              <a:t>Utrata Profinet / zanik zasilania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5" y="489204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40" b="1" i="0">
                <a:solidFill>
                  <a:srgbClr val="64787E"/>
                </a:solidFill>
                <a:latin typeface="Calibri"/>
              </a:rPr>
              <a:t>wykrycie: </a:t>
            </a:r>
            <a:r>
              <a:rPr sz="940" b="0" i="0">
                <a:solidFill>
                  <a:srgbClr val="64787E"/>
                </a:solidFill>
                <a:latin typeface="Calibri"/>
              </a:rPr>
              <a:t>watchdog / zasilacz buforowy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2C7A50"/>
                </a:solidFill>
                <a:latin typeface="Calibri"/>
              </a:rPr>
              <a:t>reakcja: </a:t>
            </a:r>
            <a:r>
              <a:rPr sz="940" b="0" i="0">
                <a:solidFill>
                  <a:srgbClr val="33474C"/>
                </a:solidFill>
                <a:latin typeface="Calibri"/>
              </a:rPr>
              <a:t>bezpieczny stop, po powrocie Homing.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" y="5943600"/>
            <a:ext cx="11018520" cy="566928"/>
          </a:xfrm>
          <a:prstGeom prst="rect">
            <a:avLst/>
          </a:prstGeom>
          <a:solidFill>
            <a:srgbClr val="F7EEDA"/>
          </a:solidFill>
          <a:ln w="12700">
            <a:solidFill>
              <a:srgbClr val="EAD9B6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" y="5943600"/>
            <a:ext cx="64008" cy="566928"/>
          </a:xfrm>
          <a:prstGeom prst="rect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943600"/>
            <a:ext cx="10698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3338"/>
                </a:solidFill>
                <a:latin typeface="Calibri"/>
              </a:rPr>
              <a:t>Zasada domyślnej ostrożności:  </a:t>
            </a:r>
            <a:r>
              <a:rPr sz="1200" b="0" i="0">
                <a:solidFill>
                  <a:srgbClr val="33474C"/>
                </a:solidFill>
                <a:latin typeface="Calibri"/>
              </a:rPr>
              <a:t>gdy brakuje pewnej informacji, detal jest traktowany jako brak, a układ — zatrzymywany.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DIAGNOSTYKA W STEROWANIU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338"/>
                </a:solidFill>
                <a:latin typeface="Georgia"/>
              </a:rPr>
              <a:t>Bezpieczeństwo i diagnostyka wpisane w architekturę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66420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40">
                <a:solidFill>
                  <a:srgbClr val="123338"/>
                </a:solidFill>
                <a:latin typeface="Calibri"/>
              </a:rPr>
              <a:t>KOLEJNOŚĆ W GŁÓWNEJ PĘTLI (co ~10 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93392"/>
            <a:ext cx="4069080" cy="484632"/>
          </a:xfrm>
          <a:prstGeom prst="rect">
            <a:avLst/>
          </a:prstGeom>
          <a:solidFill>
            <a:srgbClr val="F6E8E4"/>
          </a:solidFill>
          <a:ln w="12700">
            <a:solidFill>
              <a:srgbClr val="E6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993392"/>
            <a:ext cx="64008" cy="48463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1993392"/>
            <a:ext cx="3703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23A2E"/>
                </a:solidFill>
                <a:latin typeface="Calibri"/>
              </a:rPr>
              <a:t>Sprzętowe przerwanie E-STOP — najwyższy priorytet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0339" y="2432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D8A3C"/>
                </a:solidFill>
                <a:latin typeface="Calibr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578608"/>
            <a:ext cx="4069080" cy="484632"/>
          </a:xfrm>
          <a:prstGeom prst="roundRect">
            <a:avLst>
              <a:gd name="adj" fmla="val 8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2578608"/>
            <a:ext cx="3703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23338"/>
                </a:solidFill>
                <a:latin typeface="Calibri"/>
              </a:rPr>
              <a:t>Obsługa awarii — odcięcie i zatrzaśnięcie błędu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0339" y="30175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D8A3C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163824"/>
            <a:ext cx="4069080" cy="484632"/>
          </a:xfrm>
          <a:prstGeom prst="roundRect">
            <a:avLst>
              <a:gd name="adj" fmla="val 8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163824"/>
            <a:ext cx="3703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23338"/>
                </a:solidFill>
                <a:latin typeface="Calibri"/>
              </a:rPr>
              <a:t>Maszyna stanów — tryby i przejścia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0339" y="360273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D8A3C"/>
                </a:solidFill>
                <a:latin typeface="Calibr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49040"/>
            <a:ext cx="4069080" cy="484632"/>
          </a:xfrm>
          <a:prstGeom prst="roundRect">
            <a:avLst>
              <a:gd name="adj" fmla="val 8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749040"/>
            <a:ext cx="3703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23338"/>
                </a:solidFill>
                <a:latin typeface="Calibri"/>
              </a:rPr>
              <a:t>Sterowanie osiami X / Y / 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0339" y="418795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D8A3C"/>
                </a:solidFill>
                <a:latin typeface="Calibr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34256"/>
            <a:ext cx="4069080" cy="484632"/>
          </a:xfrm>
          <a:prstGeom prst="roundRect">
            <a:avLst>
              <a:gd name="adj" fmla="val 8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4334256"/>
            <a:ext cx="3703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23338"/>
                </a:solidFill>
                <a:latin typeface="Calibri"/>
              </a:rPr>
              <a:t>Dozownik — nakładanie i suck-back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0339" y="47731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D8A3C"/>
                </a:solidFill>
                <a:latin typeface="Calibr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19472"/>
            <a:ext cx="4069080" cy="484632"/>
          </a:xfrm>
          <a:prstGeom prst="roundRect">
            <a:avLst>
              <a:gd name="adj" fmla="val 8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4919472"/>
            <a:ext cx="3703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23338"/>
                </a:solidFill>
                <a:latin typeface="Calibri"/>
              </a:rPr>
              <a:t>Tryby pracy (Auto · Manual · Purge · Homing · Wymiana)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22975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64787E"/>
                </a:solidFill>
                <a:latin typeface="Calibri"/>
              </a:rPr>
              <a:t>E-Stop sprawdzany jest jako pierwszy — niezależnie od stanu reszty programu.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975104"/>
            <a:ext cx="6492240" cy="914400"/>
          </a:xfrm>
          <a:prstGeom prst="rect">
            <a:avLst/>
          </a:prstGeom>
          <a:solidFill>
            <a:srgbClr val="E6F0EA"/>
          </a:solidFill>
          <a:ln w="12700">
            <a:solidFill>
              <a:srgbClr val="CFE3D6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8928" y="1975104"/>
            <a:ext cx="64008" cy="914400"/>
          </a:xfrm>
          <a:prstGeom prst="rect">
            <a:avLst/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1536" y="2112264"/>
            <a:ext cx="59893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23338"/>
                </a:solidFill>
                <a:latin typeface="Calibri"/>
              </a:rPr>
              <a:t>E-Stop dwukanałowy + przerwanie sprzętowe</a:t>
            </a:r>
          </a:p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33474C"/>
                </a:solidFill>
                <a:latin typeface="Calibri"/>
              </a:rPr>
              <a:t>działa niezależnie od programu — bezpieczeństwo nie zależy od oprogramowania.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928" y="3035808"/>
            <a:ext cx="6492240" cy="914400"/>
          </a:xfrm>
          <a:prstGeom prst="rect">
            <a:avLst/>
          </a:prstGeom>
          <a:solidFill>
            <a:srgbClr val="E6F0EA"/>
          </a:solidFill>
          <a:ln w="12700">
            <a:solidFill>
              <a:srgbClr val="CFE3D6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8928" y="3035808"/>
            <a:ext cx="64008" cy="914400"/>
          </a:xfrm>
          <a:prstGeom prst="rect">
            <a:avLst/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6" y="3172968"/>
            <a:ext cx="59893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23338"/>
                </a:solidFill>
                <a:latin typeface="Calibri"/>
              </a:rPr>
              <a:t>Po resecie zawsze bazowanie (Homing)</a:t>
            </a:r>
          </a:p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33474C"/>
                </a:solidFill>
                <a:latin typeface="Calibri"/>
              </a:rPr>
              <a:t>nigdy wprost do pracy automatycznej — znana pozycja osi przed startem.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4096512"/>
            <a:ext cx="6492240" cy="914400"/>
          </a:xfrm>
          <a:prstGeom prst="rect">
            <a:avLst/>
          </a:prstGeom>
          <a:solidFill>
            <a:srgbClr val="E6F0EA"/>
          </a:solidFill>
          <a:ln w="12700">
            <a:solidFill>
              <a:srgbClr val="CFE3D6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8928" y="4096512"/>
            <a:ext cx="64008" cy="914400"/>
          </a:xfrm>
          <a:prstGeom prst="rect">
            <a:avLst/>
          </a:prstGeom>
          <a:solidFill>
            <a:srgbClr val="2C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31536" y="4233672"/>
            <a:ext cx="59893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23338"/>
                </a:solidFill>
                <a:latin typeface="Calibri"/>
              </a:rPr>
              <a:t>Każda awaria zapisuje kod na panelu HMI</a:t>
            </a:r>
          </a:p>
          <a:p>
            <a:pPr algn="l">
              <a:lnSpc>
                <a:spcPct val="108000"/>
              </a:lnSpc>
            </a:pPr>
            <a:r>
              <a:rPr sz="1080" b="0" i="0">
                <a:solidFill>
                  <a:srgbClr val="33474C"/>
                </a:solidFill>
                <a:latin typeface="Calibri"/>
              </a:rPr>
              <a:t>kod zawiera czas, oś i czujnik — technik wie, gdzie szukać, zanim podejdzie do maszyny.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5175504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90">
                <a:solidFill>
                  <a:srgbClr val="64787E"/>
                </a:solidFill>
                <a:latin typeface="Calibri"/>
              </a:rPr>
              <a:t>SZEŚĆ TRYBÓW PRACY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38928" y="5468112"/>
            <a:ext cx="912571" cy="365760"/>
          </a:xfrm>
          <a:prstGeom prst="roundRect">
            <a:avLst>
              <a:gd name="adj" fmla="val 50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38928" y="5458968"/>
            <a:ext cx="91257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23338"/>
                </a:solidFill>
                <a:latin typeface="Calibri"/>
              </a:rPr>
              <a:t>Homing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8659" y="5468112"/>
            <a:ext cx="724204" cy="365760"/>
          </a:xfrm>
          <a:prstGeom prst="roundRect">
            <a:avLst>
              <a:gd name="adj" fmla="val 50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88659" y="5458968"/>
            <a:ext cx="7242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23338"/>
                </a:solidFill>
                <a:latin typeface="Calibri"/>
              </a:rPr>
              <a:t>Auto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50024" y="5468112"/>
            <a:ext cx="912571" cy="365760"/>
          </a:xfrm>
          <a:prstGeom prst="roundRect">
            <a:avLst>
              <a:gd name="adj" fmla="val 50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0024" y="5458968"/>
            <a:ext cx="91257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23338"/>
                </a:solidFill>
                <a:latin typeface="Calibri"/>
              </a:rPr>
              <a:t>Manual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9755" y="5468112"/>
            <a:ext cx="912571" cy="365760"/>
          </a:xfrm>
          <a:prstGeom prst="roundRect">
            <a:avLst>
              <a:gd name="adj" fmla="val 50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9755" y="5458968"/>
            <a:ext cx="91257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23338"/>
                </a:solidFill>
                <a:latin typeface="Calibri"/>
              </a:rPr>
              <a:t>E-Stop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9486" y="5468112"/>
            <a:ext cx="818388" cy="365760"/>
          </a:xfrm>
          <a:prstGeom prst="roundRect">
            <a:avLst>
              <a:gd name="adj" fmla="val 50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9486" y="5458968"/>
            <a:ext cx="8183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23338"/>
                </a:solidFill>
                <a:latin typeface="Calibri"/>
              </a:rPr>
              <a:t>Purge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05034" y="5468112"/>
            <a:ext cx="1948586" cy="365760"/>
          </a:xfrm>
          <a:prstGeom prst="roundRect">
            <a:avLst>
              <a:gd name="adj" fmla="val 50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5034" y="5458968"/>
            <a:ext cx="194858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23338"/>
                </a:solidFill>
                <a:latin typeface="Calibri"/>
              </a:rPr>
              <a:t>Wymiana pojemnika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548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BD8A3C"/>
                </a:solidFill>
                <a:latin typeface="Calibri"/>
              </a:rPr>
              <a:t>CO JESZCZE BYM USPRAWNIŁ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338"/>
                </a:solidFill>
                <a:latin typeface="Georgia"/>
              </a:rPr>
              <a:t>Wymagania częściowo spełnione — i moje propozycje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66420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33474C"/>
                </a:solidFill>
                <a:latin typeface="Calibri"/>
              </a:rPr>
              <a:t>Kilka rzeczy świadomie zostawiłem na później. Dla każdej mam konkretną propozycję i wiem, co dzięki niej zyskam.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2377440"/>
            <a:ext cx="3511296" cy="3529584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" y="2377440"/>
            <a:ext cx="3511296" cy="82296"/>
          </a:xfrm>
          <a:prstGeom prst="rect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651760"/>
            <a:ext cx="29626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10">
                <a:solidFill>
                  <a:srgbClr val="64787E"/>
                </a:solidFill>
                <a:latin typeface="Calibri"/>
              </a:rPr>
              <a:t>STAN OBECNY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92608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123338"/>
                </a:solidFill>
                <a:latin typeface="Calibri"/>
              </a:rPr>
              <a:t>Ruch z krótkim postojem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64787E"/>
                </a:solidFill>
                <a:latin typeface="Calibri"/>
              </a:rPr>
              <a:t>dla dokładności detal na chwilę się zatrzymuje.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" y="4078224"/>
            <a:ext cx="2962656" cy="14630"/>
          </a:xfrm>
          <a:prstGeom prst="rect">
            <a:avLst/>
          </a:prstGeom>
          <a:solidFill>
            <a:srgbClr val="C7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224528"/>
            <a:ext cx="29626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90">
                <a:solidFill>
                  <a:srgbClr val="2C7A50"/>
                </a:solidFill>
                <a:latin typeface="Calibri"/>
              </a:rPr>
              <a:t>MOJA PROPOZYCJA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498848"/>
            <a:ext cx="29809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23338"/>
                </a:solidFill>
                <a:latin typeface="Calibri"/>
              </a:rPr>
              <a:t>Potokowanie pracy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5084064"/>
            <a:ext cx="29809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33474C"/>
                </a:solidFill>
                <a:latin typeface="Calibri"/>
              </a:rPr>
              <a:t>postój jednego detalu nakłada się na transport i inspekcję innych, więc linia nie stoi; dostrojenie dojazdu skraca sam postój.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377440"/>
            <a:ext cx="3511296" cy="3529584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2377440"/>
            <a:ext cx="3511296" cy="82296"/>
          </a:xfrm>
          <a:prstGeom prst="rect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651760"/>
            <a:ext cx="29626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10">
                <a:solidFill>
                  <a:srgbClr val="64787E"/>
                </a:solidFill>
                <a:latin typeface="Calibri"/>
              </a:rPr>
              <a:t>STAN OBECNY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92608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123338"/>
                </a:solidFill>
                <a:latin typeface="Calibri"/>
              </a:rPr>
              <a:t>Napęd bez sprzężenia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3401568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64787E"/>
                </a:solidFill>
                <a:latin typeface="Calibri"/>
              </a:rPr>
              <a:t>silnik krokowy może po cichu zgubić krok.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6864" y="4078224"/>
            <a:ext cx="2962656" cy="14630"/>
          </a:xfrm>
          <a:prstGeom prst="rect">
            <a:avLst/>
          </a:prstGeom>
          <a:solidFill>
            <a:srgbClr val="C7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4224528"/>
            <a:ext cx="29626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90">
                <a:solidFill>
                  <a:srgbClr val="2C7A50"/>
                </a:solidFill>
                <a:latin typeface="Calibri"/>
              </a:rPr>
              <a:t>MOJA PROPOZYCJA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4498848"/>
            <a:ext cx="29809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23338"/>
                </a:solidFill>
                <a:latin typeface="Calibri"/>
              </a:rPr>
              <a:t>Kroki z enkoderem (zamknięta pętla)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5084064"/>
            <a:ext cx="29809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33474C"/>
                </a:solidFill>
                <a:latin typeface="Calibri"/>
              </a:rPr>
              <a:t>pozycja jest stale kontrolowana, błąd wykrywany od razu, możliwa większa dynamika bez ryzyka.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2377440"/>
            <a:ext cx="3511296" cy="3529584"/>
          </a:xfrm>
          <a:prstGeom prst="roundRect">
            <a:avLst>
              <a:gd name="adj" fmla="val 5000"/>
            </a:avLst>
          </a:prstGeom>
          <a:solidFill>
            <a:srgbClr val="EFF4F4"/>
          </a:solidFill>
          <a:ln w="12700">
            <a:solidFill>
              <a:srgbClr val="D2DDDD"/>
            </a:solidFill>
          </a:ln>
          <a:effectLst/>
          <a:effectLst>
            <a:outerShdw blurRad="114300" dist="50800" dir="5400000" rotWithShape="0">
              <a:srgbClr val="14323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9872" y="2377440"/>
            <a:ext cx="3511296" cy="82296"/>
          </a:xfrm>
          <a:prstGeom prst="rect">
            <a:avLst/>
          </a:prstGeom>
          <a:solidFill>
            <a:srgbClr val="BD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2651760"/>
            <a:ext cx="29626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10">
                <a:solidFill>
                  <a:srgbClr val="64787E"/>
                </a:solidFill>
                <a:latin typeface="Calibri"/>
              </a:rPr>
              <a:t>STAN OBECNY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92608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123338"/>
                </a:solidFill>
                <a:latin typeface="Calibri"/>
              </a:rPr>
              <a:t>Dawka oceniana po fakcie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401568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64787E"/>
                </a:solidFill>
                <a:latin typeface="Calibri"/>
              </a:rPr>
              <a:t>o jakości plomby mówi dopiero kamera.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94192" y="4078224"/>
            <a:ext cx="2962656" cy="14630"/>
          </a:xfrm>
          <a:prstGeom prst="rect">
            <a:avLst/>
          </a:prstGeom>
          <a:solidFill>
            <a:srgbClr val="C7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4224528"/>
            <a:ext cx="29626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90">
                <a:solidFill>
                  <a:srgbClr val="2C7A50"/>
                </a:solidFill>
                <a:latin typeface="Calibri"/>
              </a:rPr>
              <a:t>MOJA PROPOZYCJA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498848"/>
            <a:ext cx="29809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23338"/>
                </a:solidFill>
                <a:latin typeface="Calibri"/>
              </a:rPr>
              <a:t>Czujnik ciśnienia / przepływu pasty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5084064"/>
            <a:ext cx="29809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33474C"/>
                </a:solidFill>
                <a:latin typeface="Calibri"/>
              </a:rPr>
              <a:t>wykrywa zatkaną igłę lub pusty kartusz, zanim w ogóle powstanie brak.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Zrobotyzowane stanowisko do znakowania śrub Torque Seal</dc:title>
  <dc:subject>Zadanie rekrutacyjne AMPERE POINT</dc:subject>
  <dc:creator>Dawid Cekała</dc:creator>
  <cp:keywords>stanowisko zrobotyzowane, dozownik, suck-back, ryzyko, diagnostyka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