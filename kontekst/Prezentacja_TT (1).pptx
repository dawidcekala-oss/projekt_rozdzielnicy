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0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0"/>
            <a:ext cx="1856232" cy="6858000"/>
          </a:xfrm>
          <a:prstGeom prst="rect">
            <a:avLst/>
          </a:prstGeom>
          <a:solidFill>
            <a:srgbClr val="2E6DA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720000">
            <a:off x="11018520" y="2286000"/>
            <a:ext cx="502920" cy="502920"/>
          </a:xfrm>
          <a:prstGeom prst="rect">
            <a:avLst/>
          </a:prstGeom>
          <a:solidFill>
            <a:srgbClr val="E88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155680" y="3383280"/>
            <a:ext cx="365760" cy="36576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8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 STANOWISKA ZROBOTYZOWANEGO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9326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Stanowisko do punktowego znakowania śrub pokrywy obudowy elektronicznej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8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SKŁAD ZESPOŁU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22402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240280" cy="91440"/>
          </a:xfrm>
          <a:prstGeom prst="rect">
            <a:avLst/>
          </a:prstGeom>
          <a:solidFill>
            <a:srgbClr val="E88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3401568"/>
            <a:ext cx="2020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Dawid Cekała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3950208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Kierownik zespołu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3200400"/>
            <a:ext cx="22402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3401568"/>
            <a:ext cx="2020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Krystian Krupa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3950208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Procesy / technologia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3200400"/>
            <a:ext cx="22402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9552" y="3401568"/>
            <a:ext cx="2020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Wojciech Gliszczyński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9552" y="3950208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Konstrukcja / hardware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54696" y="3200400"/>
            <a:ext cx="22402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64424" y="3401568"/>
            <a:ext cx="20208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Bartosz Łyszkowski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64424" y="3950208"/>
            <a:ext cx="202082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/ PLC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8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METODYKA ŚLEDZENIA POSTĘPÓW I WERYFIKACJI ZADAŃ CZĄSTKOWYCH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120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Harmonogram z 8 </a:t>
            </a:r>
            <a:r>
              <a:rPr lang="pl-PL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etapami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kontrola terminów zadań cząstkowych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obliczeniowa doboru osi — wymóg zapasu momentu ≥ 30 % dla każdej osi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dostępności modeli CAD przed finalnym doborem komponentów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5120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Wirtualne uruchomienie w ROBOGUIDE (SCARA) i TIA Portal (symulacja PLC)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weryfikacji zgodności z wymaganiami obligatoryjnymi i pożądanymi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Iteracyjne wersjonowanie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przeglądem zespołowym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Schemat stanowiska — rzut z góry</a:t>
            </a:r>
            <a:endParaRPr lang="en-US" sz="2600" dirty="0"/>
          </a:p>
        </p:txBody>
      </p:sp>
      <p:pic>
        <p:nvPicPr>
          <p:cNvPr id="3" name="Image 0" descr="station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8" y="1051560"/>
            <a:ext cx="11430000" cy="55272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Algorytm główny procesu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 blokowy cyklu automatycznego z krótkim opisem etapów</a:t>
            </a:r>
            <a:endParaRPr lang="en-US" sz="1300" dirty="0"/>
          </a:p>
        </p:txBody>
      </p:sp>
      <p:pic>
        <p:nvPicPr>
          <p:cNvPr id="4" name="Image 0" descr="flowchart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849031" cy="5532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32120" y="1335024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Bazowanie i start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532120" y="1682496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osi X/Y/Z, </a:t>
            </a:r>
            <a:r>
              <a:rPr lang="pl-PL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przywracanie ciśnienia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komory; układ czeka na sygnał operatora.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37760" y="2322576"/>
            <a:ext cx="457200" cy="457200"/>
          </a:xfrm>
          <a:prstGeom prst="ellipse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32120" y="2286000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Załadunek detalu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532120" y="263347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SCARA podaje obudowę na przesuwnik, który transportuje detal do strefy robota TT (stop na czujniku).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937760" y="3273552"/>
            <a:ext cx="457200" cy="457200"/>
          </a:xfrm>
          <a:prstGeom prst="ellipse">
            <a:avLst/>
          </a:prstGeom>
          <a:solidFill>
            <a:srgbClr val="E88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32120" y="3236976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Pętla dozowania (4×)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532120" y="358444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każdej z 4 śrub: pozycjonowanie XY → nałożenie pasty (SV2) → suck-back (SV3 + </a:t>
            </a:r>
            <a:r>
              <a:rPr lang="pl-PL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wyrzutnik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zapobiegający kapaniu.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937760" y="4224528"/>
            <a:ext cx="457200" cy="457200"/>
          </a:xfrm>
          <a:prstGeom prst="ellipse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3776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32120" y="418795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Kontrola jakości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532120" y="4535424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nałożeniu na wszystkie śruby kamera ocenia poprawność (wynik OK / NOK).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937760" y="517550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37760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32120" y="5138928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Sortowanie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532120" y="5486400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→ przesuwnik kieruje detal na wyjście. NOK → </a:t>
            </a:r>
            <a:r>
              <a:rPr lang="en-US" sz="11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przekładka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kieruje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detal do magazynu braków. </a:t>
            </a:r>
            <a:r>
              <a:rPr lang="en-US" sz="11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powtarza się dla </a:t>
            </a:r>
            <a:r>
              <a:rPr lang="en-US" sz="11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</a:t>
            </a:r>
            <a:r>
              <a:rPr lang="pl-PL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</a:t>
            </a:r>
            <a:r>
              <a:rPr lang="pl-PL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937760" y="6172200"/>
            <a:ext cx="6766560" cy="457200"/>
          </a:xfrm>
          <a:prstGeom prst="rect">
            <a:avLst/>
          </a:prstGeom>
          <a:solidFill>
            <a:srgbClr val="1A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120640" y="61722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82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 ≤ 8 s</a:t>
            </a: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±0,05 mm    tor 50×50 mm    suck-back 4×150 ms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Ocena ryzyka — zadania cząstkowe o najwyższym ryzyku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ryzyka i podjęte metody rozwiązania problemów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/ RYZYKO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ŹRÓDŁO RYZYKA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PODJĘTE ROZWIĄZANIE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11091672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91440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96012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883664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WYSOKIE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21284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Dobór silnika osi X — zapas momentu poniżej wymaganych 30 %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865376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X przenosi masę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całego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układu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(oś Y + oś Z + dozownik ≈ 9,7 kg); przy a = 5 m/s² zapas tylko 17 %.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0" y="1865376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projektowanego przyspieszenia osi X do 4 m/s² → zapas wzrósł do 46 %. </a:t>
            </a:r>
            <a:r>
              <a:rPr lang="en-US" sz="1050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maksymalnie 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 nadal spełniony.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11091672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962656"/>
            <a:ext cx="91440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3232" y="3090672"/>
            <a:ext cx="96012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09067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WYSOKIE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341985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 dozownika z funkcją suck-back — ryzyko kapania pasty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3072384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gotowego rozwiązania rynkowego dla pasty Torque Seal; kapanie psułoby jakość i powtarzalność.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0" y="3072384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Autorska komora ciśnieniowa + </a:t>
            </a:r>
            <a:r>
              <a:rPr lang="pl-PL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wyrzutnik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Venturiego (podciśnienie −0,86 bar). Analogia z ekspresem ciśnieniowym.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69664"/>
            <a:ext cx="11091672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4169664"/>
            <a:ext cx="91440" cy="1097280"/>
          </a:xfrm>
          <a:prstGeom prst="rect">
            <a:avLst/>
          </a:prstGeom>
          <a:solidFill>
            <a:srgbClr val="E88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3232" y="4297680"/>
            <a:ext cx="960120" cy="292608"/>
          </a:xfrm>
          <a:prstGeom prst="rect">
            <a:avLst/>
          </a:prstGeom>
          <a:solidFill>
            <a:srgbClr val="E88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429768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ŚREDNIE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62686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Dostępność darmowych modeli CAD dobranych komponentów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427939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elementów Festo nie posiadała modeli CAD do pobrania online — blokada wirtualnego montażu.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0" y="4279392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Substytucja na dostępne odpowiedniki: VUVG-S10…, NPQM-D-G18…, VN-05-M… (zachowane parametry funkcjonalne).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376672"/>
            <a:ext cx="11091672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5376672"/>
            <a:ext cx="91440" cy="1097280"/>
          </a:xfrm>
          <a:prstGeom prst="rect">
            <a:avLst/>
          </a:prstGeom>
          <a:solidFill>
            <a:srgbClr val="E88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232" y="5504688"/>
            <a:ext cx="960120" cy="292608"/>
          </a:xfrm>
          <a:prstGeom prst="rect">
            <a:avLst/>
          </a:prstGeom>
          <a:solidFill>
            <a:srgbClr val="E882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" y="5504688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ŚREDNIE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583387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robota SCARA (nie-Festo) z systemem sterowania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54864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 wymagań: jeden producent osprzętu (Festo) vs wymóg kompatybilności z ROBOGUIDE.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3840" y="54864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FANUC SR-3iA połączony przez Profinet jako węzeł I/O; reszta osprzętu pozostała w standardzie Festo.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460</Words>
  <Application>Microsoft Office PowerPoint</Application>
  <PresentationFormat>Panoramiczny</PresentationFormat>
  <Paragraphs>62</Paragraphs>
  <Slides>4</Slides>
  <Notes>4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9" baseType="lpstr">
      <vt:lpstr>Arial</vt:lpstr>
      <vt:lpstr>Calibri</vt:lpstr>
      <vt:lpstr>Georgia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Stanowisko do punktowego znakowania srub</dc:title>
  <dc:subject>PptxGenJS Presentation</dc:subject>
  <dc:creator>Zespol 4</dc:creator>
  <cp:lastModifiedBy>Cekała Dawid</cp:lastModifiedBy>
  <cp:revision>2</cp:revision>
  <dcterms:created xsi:type="dcterms:W3CDTF">2026-06-02T19:44:19Z</dcterms:created>
  <dcterms:modified xsi:type="dcterms:W3CDTF">2026-06-02T20:40:22Z</dcterms:modified>
</cp:coreProperties>
</file>